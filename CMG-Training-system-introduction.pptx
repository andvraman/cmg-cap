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is the whole journey. Slide 3 zooms in on two of its stops, planning and scheduling. Slides 4 and 5 are the people: slide 4 shows the five levels (national, region, district, area, village) and the two sides, and explains what an area is; slide 5 shows what changes when operations are handed from TAMISEMI to the BDS partner. Updated on 21 September 2026 for the district coordinator and the district officer.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in the depot: a lesson is written, reviewed by a second author and translated, and the district officer registers the groups, before anything moves. "The coordinator" is the district coordinator, or the area coordinator where the district has been divided into areas. First stop: the partner trains its trainers, who must pass a quiz at 90 percent to be certified. Walk the line, round the bend, and back. Pause at the green band: the platform is not open during a session. The trainer carries a printed sheet, the group signs on paper, and the report is typed in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normal path is plan, then schedule. The planner answers a capacity question for an area over six weeks and never names a person. Assigning a trainer is what runs the rules: registered group, certified and posted trainer, one session a day, module order, the duration limit. A draft session is the exception, not a stage: it parks a visit whose trainer is not decided, and it is where a booking lands, with the reason, when a rule refuses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TAMISEMI is the government side; the BDS partner is the delivery partner. The hierarchy is national, region, district, area, ward, village, group. "The coordinator" means the district coordinator, who runs training in a district, draws its areas and appoints their coordinators. The district officer is a separate role that keeps the register: only they add groups. The regional coordinator oversees and covers, and alone confirms postings, hands over and does spot checks. The partner has no district-level counterpart for now. Coordination moves from the left wing to the right wing on the area floor, one area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TAMISEMI is the government side; the BDS partner is the delivery partner. Before a handoff TAMISEMI coordinates the area and the partner supplies the trainers and watches. After it, the partner coordinates that area and TAMISEMI steps back and checks. The district coordinator is "the coordinator": they draw the areas, and carry on coordinating the parts of the district that have not been handed over. The partner has no district-level counterpart for now. Only an administrator or the regional coordinator can hand an area over, by typing its name, and only once the partner has a coordinator there. Supervision afterwards is by sampled reports and the progress page. One rule holds on both sides: nobody accepts a report for a session they delivered.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linked page and walk the line with the arrow keys, or choose a person. Start with the coordinator: the rest of the system turns round that job. Each person shows five things they do, their goal, and the success line from the personas spec. The district coordinator's success line is written from their goal, because the spec gives none yet. The page is private until it is shared, like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slideLayout" Target="../slideLayouts/slideLayout1.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hyperlink" Target="https://andvraman.github.io/cmg-cap/personas.html" TargetMode="External"/><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03D"/>
        </a:solidFill>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spc="200" kern="0" dirty="0">
                <a:solidFill>
                  <a:srgbClr val="E9B48F"/>
                </a:solidFill>
                <a:latin typeface="Nunito Sans" pitchFamily="34" charset="0"/>
                <a:ea typeface="Arial" pitchFamily="34" charset="-122"/>
                <a:cs typeface="Arial" pitchFamily="34" charset="-120"/>
              </a:rPr>
              <a:t>CMG TRAINING · MAFUNZO YA VIKUNDI</a:t>
            </a:r>
            <a:endParaRPr lang="en-US" sz="1500" dirty="0"/>
          </a:p>
        </p:txBody>
      </p:sp>
      <p:sp>
        <p:nvSpPr>
          <p:cNvPr id="3" name="Text 1"/>
          <p:cNvSpPr/>
          <p:nvPr/>
        </p:nvSpPr>
        <p:spPr>
          <a:xfrm>
            <a:off x="812800" y="3286125"/>
            <a:ext cx="9810750" cy="2225675"/>
          </a:xfrm>
          <a:prstGeom prst="rect">
            <a:avLst/>
          </a:prstGeom>
          <a:noFill/>
          <a:ln/>
        </p:spPr>
        <p:txBody>
          <a:bodyPr wrap="square" lIns="0" tIns="0" rIns="0" bIns="0" rtlCol="0" anchor="t">
            <a:normAutofit/>
          </a:bodyPr>
          <a:lstStyle/>
          <a:p>
            <a:pPr algn="l" indent="0" marL="0">
              <a:lnSpc>
                <a:spcPts val="5775"/>
              </a:lnSpc>
              <a:buNone/>
            </a:pPr>
            <a:r>
              <a:rPr lang="en-US" sz="5500" b="1" dirty="0">
                <a:solidFill>
                  <a:srgbClr val="FFFBF5"/>
                </a:solidFill>
                <a:latin typeface="Domine" pitchFamily="34" charset="0"/>
                <a:ea typeface="Georgia" pitchFamily="34" charset="-122"/>
                <a:cs typeface="Georgia" pitchFamily="34" charset="-120"/>
              </a:rPr>
              <a:t>A digital tool to implement CMG capacity building</a:t>
            </a:r>
            <a:endParaRPr lang="en-US" sz="5500" dirty="0"/>
          </a:p>
        </p:txBody>
      </p:sp>
      <p:sp>
        <p:nvSpPr>
          <p:cNvPr id="4" name="Text 2"/>
          <p:cNvSpPr/>
          <p:nvPr/>
        </p:nvSpPr>
        <p:spPr>
          <a:xfrm>
            <a:off x="812800" y="5715000"/>
            <a:ext cx="850265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FD8D5"/>
                </a:solidFill>
                <a:latin typeface="Nunito Sans" pitchFamily="34" charset="0"/>
                <a:ea typeface="Arial" pitchFamily="34" charset="-122"/>
                <a:cs typeface="Arial" pitchFamily="34" charset="-120"/>
              </a:rPr>
              <a:t>From an author's desk to a village meeting and back</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BF5"/>
        </a:solidFill>
      </p:bgPr>
    </p:bg>
    <p:spTree>
      <p:nvGrpSpPr>
        <p:cNvPr id="1" name=""/>
        <p:cNvGrpSpPr/>
        <p:nvPr/>
      </p:nvGrpSpPr>
      <p:grpSpPr>
        <a:xfrm>
          <a:off x="0" y="0"/>
          <a:ext cx="0" cy="0"/>
          <a:chOff x="0" y="0"/>
          <a:chExt cx="0" cy="0"/>
        </a:xfrm>
      </p:grpSpPr>
      <p:sp>
        <p:nvSpPr>
          <p:cNvPr id="2" name="Shape 0"/>
          <p:cNvSpPr/>
          <p:nvPr/>
        </p:nvSpPr>
        <p:spPr>
          <a:xfrm>
            <a:off x="812800" y="584200"/>
            <a:ext cx="762000" cy="50800"/>
          </a:xfrm>
          <a:prstGeom prst="roundRect">
            <a:avLst>
              <a:gd name="adj" fmla="val 50000"/>
            </a:avLst>
          </a:prstGeom>
          <a:solidFill>
            <a:srgbClr val="A84B25"/>
          </a:solidFill>
          <a:ln/>
        </p:spPr>
        <p:txBody>
          <a:bodyPr/>
          <a:p/>
        </p:txBody>
      </p:sp>
      <p:sp>
        <p:nvSpPr>
          <p:cNvPr id="3" name="Shape 1"/>
          <p:cNvSpPr/>
          <p:nvPr/>
        </p:nvSpPr>
        <p:spPr>
          <a:xfrm>
            <a:off x="7302500" y="3784600"/>
            <a:ext cx="4076700" cy="2247900"/>
          </a:xfrm>
          <a:prstGeom prst="roundRect">
            <a:avLst>
              <a:gd name="adj" fmla="val 9040"/>
            </a:avLst>
          </a:prstGeom>
          <a:solidFill>
            <a:srgbClr val="E7EEDD"/>
          </a:solidFill>
          <a:ln/>
        </p:spPr>
        <p:txBody>
          <a:bodyPr/>
          <a:p/>
        </p:txBody>
      </p:sp>
      <p:sp>
        <p:nvSpPr>
          <p:cNvPr id="4" name="Text 2"/>
          <p:cNvSpPr/>
          <p:nvPr/>
        </p:nvSpPr>
        <p:spPr>
          <a:xfrm>
            <a:off x="7493000" y="3848100"/>
            <a:ext cx="379349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F6B3A"/>
                </a:solidFill>
                <a:latin typeface="Nunito Sans" pitchFamily="34" charset="0"/>
                <a:ea typeface="Arial" pitchFamily="34" charset="-122"/>
                <a:cs typeface="Arial" pitchFamily="34" charset="-120"/>
              </a:rPr>
              <a:t>NO SIGNAL NEEDED · PAPER ONLY</a:t>
            </a:r>
            <a:endParaRPr lang="en-US" sz="1200" dirty="0"/>
          </a:p>
        </p:txBody>
      </p:sp>
      <p:pic>
        <p:nvPicPr>
          <p:cNvPr id="5" name="Image 0" descr="A route line with eight stops, fed from a depot where the lesson is built, with a dotted line carrying feedback back to it">    </p:cNvPr>
          <p:cNvPicPr>
            <a:picLocks noChangeAspect="1"/>
          </p:cNvPicPr>
          <p:nvPr/>
        </p:nvPicPr>
        <p:blipFill>
          <a:blip r:embed="rId1"/>
          <a:srcRect l="0" r="0" t="0" b="0"/>
          <a:stretch/>
        </p:blipFill>
        <p:spPr>
          <a:xfrm>
            <a:off x="0" y="0"/>
            <a:ext cx="12192000" cy="6858000"/>
          </a:xfrm>
          <a:prstGeom prst="rect">
            <a:avLst/>
          </a:prstGeom>
        </p:spPr>
      </p:pic>
      <p:sp>
        <p:nvSpPr>
          <p:cNvPr id="6" name="Text 3"/>
          <p:cNvSpPr/>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2303D"/>
                </a:solidFill>
                <a:latin typeface="Domine" pitchFamily="34" charset="0"/>
                <a:ea typeface="Georgia" pitchFamily="34" charset="-122"/>
                <a:cs typeface="Georgia" pitchFamily="34" charset="-120"/>
              </a:rPr>
              <a:t>The training cycle</a:t>
            </a:r>
            <a:endParaRPr lang="en-US" sz="3200" dirty="0"/>
          </a:p>
        </p:txBody>
      </p:sp>
      <p:sp>
        <p:nvSpPr>
          <p:cNvPr id="7" name="Shape 4"/>
          <p:cNvSpPr/>
          <p:nvPr/>
        </p:nvSpPr>
        <p:spPr>
          <a:xfrm>
            <a:off x="502285" y="1730375"/>
            <a:ext cx="2800350" cy="3079750"/>
          </a:xfrm>
          <a:prstGeom prst="roundRect">
            <a:avLst>
              <a:gd name="adj" fmla="val 5102"/>
            </a:avLst>
          </a:prstGeom>
          <a:solidFill>
            <a:srgbClr val="F3E9DA"/>
          </a:solidFill>
          <a:ln w="19050">
            <a:solidFill>
              <a:srgbClr val="12435A"/>
            </a:solidFill>
            <a:prstDash val="dash"/>
          </a:ln>
        </p:spPr>
        <p:txBody>
          <a:bodyPr/>
          <a:p/>
        </p:txBody>
      </p:sp>
      <p:sp>
        <p:nvSpPr>
          <p:cNvPr id="8" name="Text 5"/>
          <p:cNvSpPr/>
          <p:nvPr/>
        </p:nvSpPr>
        <p:spPr>
          <a:xfrm>
            <a:off x="689610" y="1905000"/>
            <a:ext cx="2498471" cy="208409"/>
          </a:xfrm>
          <a:prstGeom prst="rect">
            <a:avLst/>
          </a:prstGeom>
          <a:noFill/>
          <a:ln/>
        </p:spPr>
        <p:txBody>
          <a:bodyPr wrap="square" lIns="0" tIns="0" rIns="0" bIns="0" rtlCol="0" anchor="t">
            <a:normAutofit/>
          </a:bodyPr>
          <a:lstStyle/>
          <a:p>
            <a:pPr algn="l" indent="0" marL="0">
              <a:lnSpc>
                <a:spcPts val="1470"/>
              </a:lnSpc>
              <a:buNone/>
            </a:pPr>
            <a:r>
              <a:rPr lang="en-US" sz="1050" b="1" spc="100" kern="0" dirty="0">
                <a:solidFill>
                  <a:srgbClr val="12435A"/>
                </a:solidFill>
                <a:latin typeface="Nunito Sans" pitchFamily="34" charset="0"/>
                <a:ea typeface="Arial" pitchFamily="34" charset="-122"/>
                <a:cs typeface="Arial" pitchFamily="34" charset="-120"/>
              </a:rPr>
              <a:t>BEFORE THE JOURNEY</a:t>
            </a:r>
            <a:endParaRPr lang="en-US" sz="1050" dirty="0"/>
          </a:p>
        </p:txBody>
      </p:sp>
      <p:sp>
        <p:nvSpPr>
          <p:cNvPr id="9" name="Text 6"/>
          <p:cNvSpPr/>
          <p:nvPr/>
        </p:nvSpPr>
        <p:spPr>
          <a:xfrm>
            <a:off x="689610" y="2164209"/>
            <a:ext cx="2498471" cy="469850"/>
          </a:xfrm>
          <a:prstGeom prst="rect">
            <a:avLst/>
          </a:prstGeom>
          <a:noFill/>
          <a:ln/>
        </p:spPr>
        <p:txBody>
          <a:bodyPr wrap="square" lIns="0" tIns="0" rIns="0" bIns="0" rtlCol="0" anchor="t">
            <a:normAutofit/>
          </a:bodyPr>
          <a:lstStyle/>
          <a:p>
            <a:pPr algn="l" indent="0" marL="0">
              <a:lnSpc>
                <a:spcPts val="1760"/>
              </a:lnSpc>
              <a:buNone/>
            </a:pPr>
            <a:r>
              <a:rPr lang="en-US" sz="1466" b="1" dirty="0">
                <a:solidFill>
                  <a:srgbClr val="12303D"/>
                </a:solidFill>
                <a:latin typeface="Domine" pitchFamily="34" charset="0"/>
                <a:ea typeface="Georgia" pitchFamily="34" charset="-122"/>
                <a:cs typeface="Georgia" pitchFamily="34" charset="-120"/>
              </a:rPr>
              <a:t>Lessons built, groups registered</a:t>
            </a:r>
            <a:endParaRPr lang="en-US" sz="1466" dirty="0"/>
          </a:p>
        </p:txBody>
      </p:sp>
      <p:pic>
        <p:nvPicPr>
          <p:cNvPr id="10" name="Image 1" descr="Book">    </p:cNvPr>
          <p:cNvPicPr>
            <a:picLocks noChangeAspect="1"/>
          </p:cNvPicPr>
          <p:nvPr/>
        </p:nvPicPr>
        <p:blipFill>
          <a:blip r:embed="rId2"/>
          <a:srcRect l="0" r="0" t="0" b="0"/>
          <a:stretch/>
        </p:blipFill>
        <p:spPr>
          <a:xfrm>
            <a:off x="689610" y="2667695"/>
            <a:ext cx="241300" cy="241300"/>
          </a:xfrm>
          <a:prstGeom prst="rect">
            <a:avLst/>
          </a:prstGeom>
        </p:spPr>
      </p:pic>
      <p:sp>
        <p:nvSpPr>
          <p:cNvPr id="11" name="Text 7"/>
          <p:cNvSpPr/>
          <p:nvPr/>
        </p:nvSpPr>
        <p:spPr>
          <a:xfrm>
            <a:off x="1019810" y="2689275"/>
            <a:ext cx="1662906"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2303D"/>
                </a:solidFill>
                <a:latin typeface="Nunito Sans" pitchFamily="34" charset="0"/>
                <a:ea typeface="Arial" pitchFamily="34" charset="-122"/>
                <a:cs typeface="Arial" pitchFamily="34" charset="-120"/>
              </a:rPr>
              <a:t>Write</a:t>
            </a:r>
            <a:r>
              <a:rPr lang="en-US" sz="1300" dirty="0">
                <a:solidFill>
                  <a:srgbClr val="12303D"/>
                </a:solidFill>
                <a:latin typeface="Nunito Sans" pitchFamily="34" charset="0"/>
                <a:ea typeface="Arial" pitchFamily="34" charset="-122"/>
                <a:cs typeface="Arial" pitchFamily="34" charset="-120"/>
              </a:rPr>
              <a:t> · content author</a:t>
            </a:r>
            <a:endParaRPr lang="en-US" sz="1300" dirty="0"/>
          </a:p>
        </p:txBody>
      </p:sp>
      <p:pic>
        <p:nvPicPr>
          <p:cNvPr id="12" name="Image 2" descr="Check">    </p:cNvPr>
          <p:cNvPicPr>
            <a:picLocks noChangeAspect="1"/>
          </p:cNvPicPr>
          <p:nvPr/>
        </p:nvPicPr>
        <p:blipFill>
          <a:blip r:embed="rId3"/>
          <a:srcRect l="0" r="0" t="-693" b="-693"/>
          <a:stretch/>
        </p:blipFill>
        <p:spPr>
          <a:xfrm>
            <a:off x="689610" y="3017292"/>
            <a:ext cx="200422" cy="241300"/>
          </a:xfrm>
          <a:prstGeom prst="rect">
            <a:avLst/>
          </a:prstGeom>
        </p:spPr>
      </p:pic>
      <p:sp>
        <p:nvSpPr>
          <p:cNvPr id="13" name="Text 8"/>
          <p:cNvSpPr/>
          <p:nvPr/>
        </p:nvSpPr>
        <p:spPr>
          <a:xfrm>
            <a:off x="978932" y="2939852"/>
            <a:ext cx="2200469" cy="42158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2303D"/>
                </a:solidFill>
                <a:latin typeface="Nunito Sans" pitchFamily="34" charset="0"/>
                <a:ea typeface="Arial" pitchFamily="34" charset="-122"/>
                <a:cs typeface="Arial" pitchFamily="34" charset="-120"/>
              </a:rPr>
              <a:t>Review, publish</a:t>
            </a:r>
            <a:r>
              <a:rPr lang="en-US" sz="1300" dirty="0">
                <a:solidFill>
                  <a:srgbClr val="12303D"/>
                </a:solidFill>
                <a:latin typeface="Nunito Sans" pitchFamily="34" charset="0"/>
                <a:ea typeface="Arial" pitchFamily="34" charset="-122"/>
                <a:cs typeface="Arial" pitchFamily="34" charset="-120"/>
              </a:rPr>
              <a:t> · a second author</a:t>
            </a:r>
            <a:endParaRPr lang="en-US" sz="1300" dirty="0"/>
          </a:p>
        </p:txBody>
      </p:sp>
      <p:pic>
        <p:nvPicPr>
          <p:cNvPr id="14" name="Image 3" descr="Globe">    </p:cNvPr>
          <p:cNvPicPr>
            <a:picLocks noChangeAspect="1"/>
          </p:cNvPicPr>
          <p:nvPr/>
        </p:nvPicPr>
        <p:blipFill>
          <a:blip r:embed="rId4"/>
          <a:srcRect l="0" r="0" t="0" b="0"/>
          <a:stretch/>
        </p:blipFill>
        <p:spPr>
          <a:xfrm>
            <a:off x="689610" y="3366889"/>
            <a:ext cx="241300" cy="241300"/>
          </a:xfrm>
          <a:prstGeom prst="rect">
            <a:avLst/>
          </a:prstGeom>
        </p:spPr>
      </p:pic>
      <p:sp>
        <p:nvSpPr>
          <p:cNvPr id="15" name="Text 9"/>
          <p:cNvSpPr/>
          <p:nvPr/>
        </p:nvSpPr>
        <p:spPr>
          <a:xfrm>
            <a:off x="1019810" y="3388469"/>
            <a:ext cx="1610767"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2303D"/>
                </a:solidFill>
                <a:latin typeface="Nunito Sans" pitchFamily="34" charset="0"/>
                <a:ea typeface="Arial" pitchFamily="34" charset="-122"/>
                <a:cs typeface="Arial" pitchFamily="34" charset="-120"/>
              </a:rPr>
              <a:t>Translate</a:t>
            </a:r>
            <a:r>
              <a:rPr lang="en-US" sz="1300" dirty="0">
                <a:solidFill>
                  <a:srgbClr val="12303D"/>
                </a:solidFill>
                <a:latin typeface="Nunito Sans" pitchFamily="34" charset="0"/>
                <a:ea typeface="Arial" pitchFamily="34" charset="-122"/>
                <a:cs typeface="Arial" pitchFamily="34" charset="-120"/>
              </a:rPr>
              <a:t> · translator</a:t>
            </a:r>
            <a:endParaRPr lang="en-US" sz="1300" dirty="0"/>
          </a:p>
        </p:txBody>
      </p:sp>
      <p:pic>
        <p:nvPicPr>
          <p:cNvPr id="16" name="Image 4" descr="Home">    </p:cNvPr>
          <p:cNvPicPr>
            <a:picLocks noChangeAspect="1"/>
          </p:cNvPicPr>
          <p:nvPr/>
        </p:nvPicPr>
        <p:blipFill>
          <a:blip r:embed="rId5"/>
          <a:srcRect l="0" r="0" t="-231" b="-231"/>
          <a:stretch/>
        </p:blipFill>
        <p:spPr>
          <a:xfrm>
            <a:off x="689610" y="3716486"/>
            <a:ext cx="214908" cy="241300"/>
          </a:xfrm>
          <a:prstGeom prst="rect">
            <a:avLst/>
          </a:prstGeom>
        </p:spPr>
      </p:pic>
      <p:sp>
        <p:nvSpPr>
          <p:cNvPr id="17" name="Text 10"/>
          <p:cNvSpPr/>
          <p:nvPr/>
        </p:nvSpPr>
        <p:spPr>
          <a:xfrm>
            <a:off x="993418" y="3639046"/>
            <a:ext cx="2185549" cy="42158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2303D"/>
                </a:solidFill>
                <a:latin typeface="Nunito Sans" pitchFamily="34" charset="0"/>
                <a:ea typeface="Arial" pitchFamily="34" charset="-122"/>
                <a:cs typeface="Arial" pitchFamily="34" charset="-120"/>
              </a:rPr>
              <a:t>Register groups</a:t>
            </a:r>
            <a:r>
              <a:rPr lang="en-US" sz="1300" dirty="0">
                <a:solidFill>
                  <a:srgbClr val="12303D"/>
                </a:solidFill>
                <a:latin typeface="Nunito Sans" pitchFamily="34" charset="0"/>
                <a:ea typeface="Arial" pitchFamily="34" charset="-122"/>
                <a:cs typeface="Arial" pitchFamily="34" charset="-120"/>
              </a:rPr>
              <a:t> · district officer</a:t>
            </a:r>
            <a:endParaRPr lang="en-US" sz="1300" dirty="0"/>
          </a:p>
        </p:txBody>
      </p:sp>
      <p:sp>
        <p:nvSpPr>
          <p:cNvPr id="18" name="Text 11"/>
          <p:cNvSpPr/>
          <p:nvPr/>
        </p:nvSpPr>
        <p:spPr>
          <a:xfrm>
            <a:off x="689610" y="4083248"/>
            <a:ext cx="2498471" cy="577652"/>
          </a:xfrm>
          <a:prstGeom prst="rect">
            <a:avLst/>
          </a:prstGeom>
          <a:noFill/>
          <a:ln/>
        </p:spPr>
        <p:txBody>
          <a:bodyPr wrap="square" lIns="0" tIns="0" rIns="0" bIns="0" rtlCol="0" anchor="t">
            <a:normAutofit/>
          </a:bodyPr>
          <a:lstStyle/>
          <a:p>
            <a:pPr algn="l" indent="0" marL="0">
              <a:lnSpc>
                <a:spcPts val="1458"/>
              </a:lnSpc>
              <a:buNone/>
            </a:pPr>
            <a:r>
              <a:rPr lang="en-US" sz="1121" b="1" dirty="0">
                <a:solidFill>
                  <a:srgbClr val="B26A00"/>
                </a:solidFill>
                <a:latin typeface="Nunito Sans" pitchFamily="34" charset="0"/>
                <a:ea typeface="Arial" pitchFamily="34" charset="-122"/>
                <a:cs typeface="Arial" pitchFamily="34" charset="-120"/>
              </a:rPr>
              <a:t>What we learn comes back:</a:t>
            </a:r>
            <a:r>
              <a:rPr lang="en-US" sz="1121" dirty="0">
                <a:solidFill>
                  <a:srgbClr val="B26A00"/>
                </a:solidFill>
                <a:latin typeface="Nunito Sans" pitchFamily="34" charset="0"/>
                <a:ea typeface="Arial" pitchFamily="34" charset="-122"/>
                <a:cs typeface="Arial" pitchFamily="34" charset="-120"/>
              </a:rPr>
              <a:t> quiz scores to authors, progress to planners.</a:t>
            </a:r>
            <a:endParaRPr lang="en-US" sz="1121" dirty="0"/>
          </a:p>
        </p:txBody>
      </p:sp>
      <p:pic>
        <p:nvPicPr>
          <p:cNvPr id="19" name="Image 5" descr="GraduationCap">    </p:cNvPr>
          <p:cNvPicPr>
            <a:picLocks noChangeAspect="1"/>
          </p:cNvPicPr>
          <p:nvPr/>
        </p:nvPicPr>
        <p:blipFill>
          <a:blip r:embed="rId6"/>
          <a:srcRect l="0" r="0" t="0" b="0"/>
          <a:stretch/>
        </p:blipFill>
        <p:spPr>
          <a:xfrm>
            <a:off x="4260850" y="1911350"/>
            <a:ext cx="368300" cy="368300"/>
          </a:xfrm>
          <a:prstGeom prst="rect">
            <a:avLst/>
          </a:prstGeom>
        </p:spPr>
      </p:pic>
      <p:sp>
        <p:nvSpPr>
          <p:cNvPr id="20" name="Text 12"/>
          <p:cNvSpPr/>
          <p:nvPr/>
        </p:nvSpPr>
        <p:spPr>
          <a:xfrm>
            <a:off x="3516249" y="2514600"/>
            <a:ext cx="1857502" cy="267196"/>
          </a:xfrm>
          <a:prstGeom prst="rect">
            <a:avLst/>
          </a:prstGeom>
          <a:noFill/>
          <a:ln/>
        </p:spPr>
        <p:txBody>
          <a:bodyPr wrap="square" lIns="0" tIns="0" rIns="0" bIns="0" rtlCol="0" anchor="t">
            <a:normAutofit/>
          </a:bodyPr>
          <a:lstStyle/>
          <a:p>
            <a:pPr algn="ctr" indent="0" marL="0">
              <a:lnSpc>
                <a:spcPts val="1904"/>
              </a:lnSpc>
              <a:buNone/>
            </a:pPr>
            <a:r>
              <a:rPr lang="en-US" sz="1700" b="1" dirty="0">
                <a:solidFill>
                  <a:srgbClr val="A84B25"/>
                </a:solidFill>
                <a:latin typeface="Nunito Sans" pitchFamily="34" charset="0"/>
                <a:ea typeface="Arial" pitchFamily="34" charset="-122"/>
                <a:cs typeface="Arial" pitchFamily="34" charset="-120"/>
              </a:rPr>
              <a:t>Train the trainers</a:t>
            </a:r>
            <a:endParaRPr lang="en-US" sz="1700" dirty="0"/>
          </a:p>
        </p:txBody>
      </p:sp>
      <p:sp>
        <p:nvSpPr>
          <p:cNvPr id="21" name="Text 13"/>
          <p:cNvSpPr/>
          <p:nvPr/>
        </p:nvSpPr>
        <p:spPr>
          <a:xfrm>
            <a:off x="3516249" y="2781796"/>
            <a:ext cx="1857502" cy="438150"/>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4A5565"/>
                </a:solidFill>
                <a:latin typeface="Nunito Sans" pitchFamily="34" charset="0"/>
                <a:ea typeface="Arial" pitchFamily="34" charset="-122"/>
                <a:cs typeface="Arial" pitchFamily="34" charset="-120"/>
              </a:rPr>
              <a:t>Workshop, quiz at 90%, certified</a:t>
            </a:r>
            <a:endParaRPr lang="en-US" sz="1300" dirty="0"/>
          </a:p>
        </p:txBody>
      </p:sp>
      <p:pic>
        <p:nvPicPr>
          <p:cNvPr id="22" name="Image 6" descr="Chart">    </p:cNvPr>
          <p:cNvPicPr>
            <a:picLocks noChangeAspect="1"/>
          </p:cNvPicPr>
          <p:nvPr/>
        </p:nvPicPr>
        <p:blipFill>
          <a:blip r:embed="rId7"/>
          <a:srcRect l="0" r="0" t="0" b="0"/>
          <a:stretch/>
        </p:blipFill>
        <p:spPr>
          <a:xfrm>
            <a:off x="6165850" y="1911350"/>
            <a:ext cx="368300" cy="368300"/>
          </a:xfrm>
          <a:prstGeom prst="rect">
            <a:avLst/>
          </a:prstGeom>
        </p:spPr>
      </p:pic>
      <p:sp>
        <p:nvSpPr>
          <p:cNvPr id="23" name="Text 14"/>
          <p:cNvSpPr/>
          <p:nvPr/>
        </p:nvSpPr>
        <p:spPr>
          <a:xfrm>
            <a:off x="5421249" y="2514600"/>
            <a:ext cx="1857502" cy="267196"/>
          </a:xfrm>
          <a:prstGeom prst="rect">
            <a:avLst/>
          </a:prstGeom>
          <a:noFill/>
          <a:ln/>
        </p:spPr>
        <p:txBody>
          <a:bodyPr wrap="square" lIns="0" tIns="0" rIns="0" bIns="0" rtlCol="0" anchor="t">
            <a:normAutofit/>
          </a:bodyPr>
          <a:lstStyle/>
          <a:p>
            <a:pPr algn="ctr" indent="0" marL="0">
              <a:lnSpc>
                <a:spcPts val="1904"/>
              </a:lnSpc>
              <a:buNone/>
            </a:pPr>
            <a:r>
              <a:rPr lang="en-US" sz="1700" b="1" dirty="0">
                <a:solidFill>
                  <a:srgbClr val="12435A"/>
                </a:solidFill>
                <a:latin typeface="Nunito Sans" pitchFamily="34" charset="0"/>
                <a:ea typeface="Arial" pitchFamily="34" charset="-122"/>
                <a:cs typeface="Arial" pitchFamily="34" charset="-120"/>
              </a:rPr>
              <a:t>Plan</a:t>
            </a:r>
            <a:endParaRPr lang="en-US" sz="1700" dirty="0"/>
          </a:p>
        </p:txBody>
      </p:sp>
      <p:sp>
        <p:nvSpPr>
          <p:cNvPr id="24" name="Text 15"/>
          <p:cNvSpPr/>
          <p:nvPr/>
        </p:nvSpPr>
        <p:spPr>
          <a:xfrm>
            <a:off x="5421249" y="2781796"/>
            <a:ext cx="1857502" cy="438150"/>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4A5565"/>
                </a:solidFill>
                <a:latin typeface="Nunito Sans" pitchFamily="34" charset="0"/>
                <a:ea typeface="Arial" pitchFamily="34" charset="-122"/>
                <a:cs typeface="Arial" pitchFamily="34" charset="-120"/>
              </a:rPr>
              <a:t>Allocating trainers to CMGs</a:t>
            </a:r>
            <a:endParaRPr lang="en-US" sz="1300" dirty="0"/>
          </a:p>
        </p:txBody>
      </p:sp>
      <p:pic>
        <p:nvPicPr>
          <p:cNvPr id="25" name="Image 7" descr="Clock">    </p:cNvPr>
          <p:cNvPicPr>
            <a:picLocks noChangeAspect="1"/>
          </p:cNvPicPr>
          <p:nvPr/>
        </p:nvPicPr>
        <p:blipFill>
          <a:blip r:embed="rId8"/>
          <a:srcRect l="0" r="0" t="0" b="0"/>
          <a:stretch/>
        </p:blipFill>
        <p:spPr>
          <a:xfrm>
            <a:off x="8070850" y="1911350"/>
            <a:ext cx="368300" cy="368300"/>
          </a:xfrm>
          <a:prstGeom prst="rect">
            <a:avLst/>
          </a:prstGeom>
        </p:spPr>
      </p:pic>
      <p:sp>
        <p:nvSpPr>
          <p:cNvPr id="26" name="Text 16"/>
          <p:cNvSpPr/>
          <p:nvPr/>
        </p:nvSpPr>
        <p:spPr>
          <a:xfrm>
            <a:off x="7326249" y="2514600"/>
            <a:ext cx="1857502" cy="267196"/>
          </a:xfrm>
          <a:prstGeom prst="rect">
            <a:avLst/>
          </a:prstGeom>
          <a:noFill/>
          <a:ln/>
        </p:spPr>
        <p:txBody>
          <a:bodyPr wrap="square" lIns="0" tIns="0" rIns="0" bIns="0" rtlCol="0" anchor="t">
            <a:normAutofit/>
          </a:bodyPr>
          <a:lstStyle/>
          <a:p>
            <a:pPr algn="ctr" indent="0" marL="0">
              <a:lnSpc>
                <a:spcPts val="1904"/>
              </a:lnSpc>
              <a:buNone/>
            </a:pPr>
            <a:r>
              <a:rPr lang="en-US" sz="1700" b="1" dirty="0">
                <a:solidFill>
                  <a:srgbClr val="12435A"/>
                </a:solidFill>
                <a:latin typeface="Nunito Sans" pitchFamily="34" charset="0"/>
                <a:ea typeface="Arial" pitchFamily="34" charset="-122"/>
                <a:cs typeface="Arial" pitchFamily="34" charset="-120"/>
              </a:rPr>
              <a:t>Schedule</a:t>
            </a:r>
            <a:endParaRPr lang="en-US" sz="1700" dirty="0"/>
          </a:p>
        </p:txBody>
      </p:sp>
      <p:sp>
        <p:nvSpPr>
          <p:cNvPr id="27" name="Text 17"/>
          <p:cNvSpPr/>
          <p:nvPr/>
        </p:nvSpPr>
        <p:spPr>
          <a:xfrm>
            <a:off x="7326249" y="2781796"/>
            <a:ext cx="1857502" cy="438150"/>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4A5565"/>
                </a:solidFill>
                <a:latin typeface="Nunito Sans" pitchFamily="34" charset="0"/>
                <a:ea typeface="Arial" pitchFamily="34" charset="-122"/>
                <a:cs typeface="Arial" pitchFamily="34" charset="-120"/>
              </a:rPr>
              <a:t>A certified trainer posted there, on a date</a:t>
            </a:r>
            <a:endParaRPr lang="en-US" sz="1300" dirty="0"/>
          </a:p>
        </p:txBody>
      </p:sp>
      <p:pic>
        <p:nvPicPr>
          <p:cNvPr id="28" name="Image 8" descr="PaperPlane">    </p:cNvPr>
          <p:cNvPicPr>
            <a:picLocks noChangeAspect="1"/>
          </p:cNvPicPr>
          <p:nvPr/>
        </p:nvPicPr>
        <p:blipFill>
          <a:blip r:embed="rId9"/>
          <a:srcRect l="0" r="0" t="0" b="0"/>
          <a:stretch/>
        </p:blipFill>
        <p:spPr>
          <a:xfrm>
            <a:off x="9975850" y="1911350"/>
            <a:ext cx="368300" cy="368300"/>
          </a:xfrm>
          <a:prstGeom prst="rect">
            <a:avLst/>
          </a:prstGeom>
        </p:spPr>
      </p:pic>
      <p:sp>
        <p:nvSpPr>
          <p:cNvPr id="29" name="Text 18"/>
          <p:cNvSpPr/>
          <p:nvPr/>
        </p:nvSpPr>
        <p:spPr>
          <a:xfrm>
            <a:off x="9231249" y="2514600"/>
            <a:ext cx="1857502" cy="267196"/>
          </a:xfrm>
          <a:prstGeom prst="rect">
            <a:avLst/>
          </a:prstGeom>
          <a:noFill/>
          <a:ln/>
        </p:spPr>
        <p:txBody>
          <a:bodyPr wrap="square" lIns="0" tIns="0" rIns="0" bIns="0" rtlCol="0" anchor="t">
            <a:normAutofit/>
          </a:bodyPr>
          <a:lstStyle/>
          <a:p>
            <a:pPr algn="ctr" indent="0" marL="0">
              <a:lnSpc>
                <a:spcPts val="1904"/>
              </a:lnSpc>
              <a:buNone/>
            </a:pPr>
            <a:r>
              <a:rPr lang="en-US" sz="1700" b="1" dirty="0">
                <a:solidFill>
                  <a:srgbClr val="4F6B3A"/>
                </a:solidFill>
                <a:latin typeface="Nunito Sans" pitchFamily="34" charset="0"/>
                <a:ea typeface="Arial" pitchFamily="34" charset="-122"/>
                <a:cs typeface="Arial" pitchFamily="34" charset="-120"/>
              </a:rPr>
              <a:t>Print and travel</a:t>
            </a:r>
            <a:endParaRPr lang="en-US" sz="1700" dirty="0"/>
          </a:p>
        </p:txBody>
      </p:sp>
      <p:sp>
        <p:nvSpPr>
          <p:cNvPr id="30" name="Text 19"/>
          <p:cNvSpPr/>
          <p:nvPr/>
        </p:nvSpPr>
        <p:spPr>
          <a:xfrm>
            <a:off x="9231249" y="2781796"/>
            <a:ext cx="1857502" cy="438150"/>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4A5565"/>
                </a:solidFill>
                <a:latin typeface="Nunito Sans" pitchFamily="34" charset="0"/>
                <a:ea typeface="Arial" pitchFamily="34" charset="-122"/>
                <a:cs typeface="Arial" pitchFamily="34" charset="-120"/>
              </a:rPr>
              <a:t>Session sheet and facilitator pack</a:t>
            </a:r>
            <a:endParaRPr lang="en-US" sz="1300" dirty="0"/>
          </a:p>
        </p:txBody>
      </p:sp>
      <p:pic>
        <p:nvPicPr>
          <p:cNvPr id="31" name="Image 9" descr="Users">    </p:cNvPr>
          <p:cNvPicPr>
            <a:picLocks noChangeAspect="1"/>
          </p:cNvPicPr>
          <p:nvPr/>
        </p:nvPicPr>
        <p:blipFill>
          <a:blip r:embed="rId10"/>
          <a:srcRect l="0" r="0" t="0" b="0"/>
          <a:stretch/>
        </p:blipFill>
        <p:spPr>
          <a:xfrm>
            <a:off x="9975850" y="4260850"/>
            <a:ext cx="368300" cy="368300"/>
          </a:xfrm>
          <a:prstGeom prst="rect">
            <a:avLst/>
          </a:prstGeom>
        </p:spPr>
      </p:pic>
      <p:sp>
        <p:nvSpPr>
          <p:cNvPr id="32" name="Text 20"/>
          <p:cNvSpPr/>
          <p:nvPr/>
        </p:nvSpPr>
        <p:spPr>
          <a:xfrm>
            <a:off x="9231249" y="4864100"/>
            <a:ext cx="1857502" cy="267196"/>
          </a:xfrm>
          <a:prstGeom prst="rect">
            <a:avLst/>
          </a:prstGeom>
          <a:noFill/>
          <a:ln/>
        </p:spPr>
        <p:txBody>
          <a:bodyPr wrap="square" lIns="0" tIns="0" rIns="0" bIns="0" rtlCol="0" anchor="t">
            <a:normAutofit/>
          </a:bodyPr>
          <a:lstStyle/>
          <a:p>
            <a:pPr algn="ctr" indent="0" marL="0">
              <a:lnSpc>
                <a:spcPts val="1904"/>
              </a:lnSpc>
              <a:buNone/>
            </a:pPr>
            <a:r>
              <a:rPr lang="en-US" sz="1700" b="1" dirty="0">
                <a:solidFill>
                  <a:srgbClr val="4F6B3A"/>
                </a:solidFill>
                <a:latin typeface="Nunito Sans" pitchFamily="34" charset="0"/>
                <a:ea typeface="Arial" pitchFamily="34" charset="-122"/>
                <a:cs typeface="Arial" pitchFamily="34" charset="-120"/>
              </a:rPr>
              <a:t>Deliver</a:t>
            </a:r>
            <a:endParaRPr lang="en-US" sz="1700" dirty="0"/>
          </a:p>
        </p:txBody>
      </p:sp>
      <p:sp>
        <p:nvSpPr>
          <p:cNvPr id="33" name="Text 21"/>
          <p:cNvSpPr/>
          <p:nvPr/>
        </p:nvSpPr>
        <p:spPr>
          <a:xfrm>
            <a:off x="9231249" y="5131296"/>
            <a:ext cx="1857502"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4A5565"/>
                </a:solidFill>
                <a:latin typeface="Nunito Sans" pitchFamily="34" charset="0"/>
                <a:ea typeface="Arial" pitchFamily="34" charset="-122"/>
                <a:cs typeface="Arial" pitchFamily="34" charset="-120"/>
              </a:rPr>
              <a:t>Offline, in the village</a:t>
            </a:r>
            <a:endParaRPr lang="en-US" sz="1300" dirty="0"/>
          </a:p>
        </p:txBody>
      </p:sp>
      <p:pic>
        <p:nvPicPr>
          <p:cNvPr id="34" name="Image 10" descr="Verified">    </p:cNvPr>
          <p:cNvPicPr>
            <a:picLocks noChangeAspect="1"/>
          </p:cNvPicPr>
          <p:nvPr/>
        </p:nvPicPr>
        <p:blipFill>
          <a:blip r:embed="rId11"/>
          <a:srcRect l="0" r="0" t="0" b="0"/>
          <a:stretch/>
        </p:blipFill>
        <p:spPr>
          <a:xfrm>
            <a:off x="8070850" y="4260850"/>
            <a:ext cx="368300" cy="368300"/>
          </a:xfrm>
          <a:prstGeom prst="rect">
            <a:avLst/>
          </a:prstGeom>
        </p:spPr>
      </p:pic>
      <p:sp>
        <p:nvSpPr>
          <p:cNvPr id="35" name="Text 22"/>
          <p:cNvSpPr/>
          <p:nvPr/>
        </p:nvSpPr>
        <p:spPr>
          <a:xfrm>
            <a:off x="7326249" y="4864100"/>
            <a:ext cx="1857502" cy="508992"/>
          </a:xfrm>
          <a:prstGeom prst="rect">
            <a:avLst/>
          </a:prstGeom>
          <a:noFill/>
          <a:ln/>
        </p:spPr>
        <p:txBody>
          <a:bodyPr wrap="square" lIns="0" tIns="0" rIns="0" bIns="0" rtlCol="0" anchor="t">
            <a:normAutofit/>
          </a:bodyPr>
          <a:lstStyle/>
          <a:p>
            <a:pPr algn="ctr" indent="0" marL="0">
              <a:lnSpc>
                <a:spcPts val="1904"/>
              </a:lnSpc>
              <a:buNone/>
            </a:pPr>
            <a:r>
              <a:rPr lang="en-US" sz="1700" b="1" dirty="0">
                <a:solidFill>
                  <a:srgbClr val="4F6B3A"/>
                </a:solidFill>
                <a:latin typeface="Nunito Sans" pitchFamily="34" charset="0"/>
                <a:ea typeface="Arial" pitchFamily="34" charset="-122"/>
                <a:cs typeface="Arial" pitchFamily="34" charset="-120"/>
              </a:rPr>
              <a:t>Co-sign and report</a:t>
            </a:r>
            <a:endParaRPr lang="en-US" sz="1700" dirty="0"/>
          </a:p>
        </p:txBody>
      </p:sp>
      <p:sp>
        <p:nvSpPr>
          <p:cNvPr id="36" name="Text 23"/>
          <p:cNvSpPr/>
          <p:nvPr/>
        </p:nvSpPr>
        <p:spPr>
          <a:xfrm>
            <a:off x="7326249" y="5373092"/>
            <a:ext cx="1857502" cy="438150"/>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4A5565"/>
                </a:solidFill>
                <a:latin typeface="Nunito Sans" pitchFamily="34" charset="0"/>
                <a:ea typeface="Arial" pitchFamily="34" charset="-122"/>
                <a:cs typeface="Arial" pitchFamily="34" charset="-120"/>
              </a:rPr>
              <a:t>Two members sign; typed in afterwards</a:t>
            </a:r>
            <a:endParaRPr lang="en-US" sz="1300" dirty="0"/>
          </a:p>
        </p:txBody>
      </p:sp>
      <p:pic>
        <p:nvPicPr>
          <p:cNvPr id="37" name="Image 11" descr="CheckCircle">    </p:cNvPr>
          <p:cNvPicPr>
            <a:picLocks noChangeAspect="1"/>
          </p:cNvPicPr>
          <p:nvPr/>
        </p:nvPicPr>
        <p:blipFill>
          <a:blip r:embed="rId12"/>
          <a:srcRect l="0" r="0" t="0" b="0"/>
          <a:stretch/>
        </p:blipFill>
        <p:spPr>
          <a:xfrm>
            <a:off x="6165850" y="4260850"/>
            <a:ext cx="368300" cy="368300"/>
          </a:xfrm>
          <a:prstGeom prst="rect">
            <a:avLst/>
          </a:prstGeom>
        </p:spPr>
      </p:pic>
      <p:sp>
        <p:nvSpPr>
          <p:cNvPr id="38" name="Text 24"/>
          <p:cNvSpPr/>
          <p:nvPr/>
        </p:nvSpPr>
        <p:spPr>
          <a:xfrm>
            <a:off x="5421249" y="4864100"/>
            <a:ext cx="1857502" cy="267196"/>
          </a:xfrm>
          <a:prstGeom prst="rect">
            <a:avLst/>
          </a:prstGeom>
          <a:noFill/>
          <a:ln/>
        </p:spPr>
        <p:txBody>
          <a:bodyPr wrap="square" lIns="0" tIns="0" rIns="0" bIns="0" rtlCol="0" anchor="t">
            <a:normAutofit/>
          </a:bodyPr>
          <a:lstStyle/>
          <a:p>
            <a:pPr algn="ctr" indent="0" marL="0">
              <a:lnSpc>
                <a:spcPts val="1904"/>
              </a:lnSpc>
              <a:buNone/>
            </a:pPr>
            <a:r>
              <a:rPr lang="en-US" sz="1700" b="1" dirty="0">
                <a:solidFill>
                  <a:srgbClr val="12435A"/>
                </a:solidFill>
                <a:latin typeface="Nunito Sans" pitchFamily="34" charset="0"/>
                <a:ea typeface="Arial" pitchFamily="34" charset="-122"/>
                <a:cs typeface="Arial" pitchFamily="34" charset="-120"/>
              </a:rPr>
              <a:t>Accept</a:t>
            </a:r>
            <a:endParaRPr lang="en-US" sz="1700" dirty="0"/>
          </a:p>
        </p:txBody>
      </p:sp>
      <p:sp>
        <p:nvSpPr>
          <p:cNvPr id="39" name="Text 25"/>
          <p:cNvSpPr/>
          <p:nvPr/>
        </p:nvSpPr>
        <p:spPr>
          <a:xfrm>
            <a:off x="5421249" y="5131296"/>
            <a:ext cx="1857502" cy="438150"/>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4A5565"/>
                </a:solidFill>
                <a:latin typeface="Nunito Sans" pitchFamily="34" charset="0"/>
                <a:ea typeface="Arial" pitchFamily="34" charset="-122"/>
                <a:cs typeface="Arial" pitchFamily="34" charset="-120"/>
              </a:rPr>
              <a:t>The coordinator checks delivery reports</a:t>
            </a:r>
            <a:endParaRPr lang="en-US" sz="1300" dirty="0"/>
          </a:p>
        </p:txBody>
      </p:sp>
      <p:pic>
        <p:nvPicPr>
          <p:cNvPr id="40" name="Image 12" descr="Search">    </p:cNvPr>
          <p:cNvPicPr>
            <a:picLocks noChangeAspect="1"/>
          </p:cNvPicPr>
          <p:nvPr/>
        </p:nvPicPr>
        <p:blipFill>
          <a:blip r:embed="rId13"/>
          <a:srcRect l="0" r="0" t="0" b="0"/>
          <a:stretch/>
        </p:blipFill>
        <p:spPr>
          <a:xfrm>
            <a:off x="4260850" y="4260850"/>
            <a:ext cx="368300" cy="368300"/>
          </a:xfrm>
          <a:prstGeom prst="rect">
            <a:avLst/>
          </a:prstGeom>
        </p:spPr>
      </p:pic>
      <p:sp>
        <p:nvSpPr>
          <p:cNvPr id="41" name="Text 26"/>
          <p:cNvSpPr/>
          <p:nvPr/>
        </p:nvSpPr>
        <p:spPr>
          <a:xfrm>
            <a:off x="3516249" y="4864100"/>
            <a:ext cx="1857502" cy="267196"/>
          </a:xfrm>
          <a:prstGeom prst="rect">
            <a:avLst/>
          </a:prstGeom>
          <a:noFill/>
          <a:ln/>
        </p:spPr>
        <p:txBody>
          <a:bodyPr wrap="square" lIns="0" tIns="0" rIns="0" bIns="0" rtlCol="0" anchor="t">
            <a:normAutofit/>
          </a:bodyPr>
          <a:lstStyle/>
          <a:p>
            <a:pPr algn="ctr" indent="0" marL="0">
              <a:lnSpc>
                <a:spcPts val="1904"/>
              </a:lnSpc>
              <a:buNone/>
            </a:pPr>
            <a:r>
              <a:rPr lang="en-US" sz="1700" b="1" dirty="0">
                <a:solidFill>
                  <a:srgbClr val="B26A00"/>
                </a:solidFill>
                <a:latin typeface="Nunito Sans" pitchFamily="34" charset="0"/>
                <a:ea typeface="Arial" pitchFamily="34" charset="-122"/>
                <a:cs typeface="Arial" pitchFamily="34" charset="-120"/>
              </a:rPr>
              <a:t>Oversee</a:t>
            </a:r>
            <a:endParaRPr lang="en-US" sz="1700" dirty="0"/>
          </a:p>
        </p:txBody>
      </p:sp>
      <p:sp>
        <p:nvSpPr>
          <p:cNvPr id="42" name="Text 27"/>
          <p:cNvSpPr/>
          <p:nvPr/>
        </p:nvSpPr>
        <p:spPr>
          <a:xfrm>
            <a:off x="3516249" y="5131296"/>
            <a:ext cx="1857502" cy="438150"/>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4A5565"/>
                </a:solidFill>
                <a:latin typeface="Nunito Sans" pitchFamily="34" charset="0"/>
                <a:ea typeface="Arial" pitchFamily="34" charset="-122"/>
                <a:cs typeface="Arial" pitchFamily="34" charset="-120"/>
              </a:rPr>
              <a:t>Spot checks, progress by area</a:t>
            </a:r>
            <a:endParaRPr lang="en-US" sz="1300" dirty="0"/>
          </a:p>
        </p:txBody>
      </p:sp>
      <p:sp>
        <p:nvSpPr>
          <p:cNvPr id="43" name="Text 2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B25"/>
                </a:solidFill>
                <a:latin typeface="Nunito Sans" pitchFamily="34" charset="0"/>
                <a:ea typeface="Arial" pitchFamily="34" charset="-122"/>
                <a:cs typeface="Arial" pitchFamily="34" charset="-120"/>
              </a:rPr>
              <a:t>BDS partner</a:t>
            </a:r>
            <a:r>
              <a:rPr lang="en-US" sz="1200" dirty="0">
                <a:solidFill>
                  <a:srgbClr val="4A5565"/>
                </a:solidFill>
                <a:latin typeface="Nunito Sans" pitchFamily="34" charset="0"/>
                <a:ea typeface="Arial" pitchFamily="34" charset="-122"/>
                <a:cs typeface="Arial" pitchFamily="34" charset="-120"/>
              </a:rPr>
              <a:t> · </a:t>
            </a:r>
            <a:r>
              <a:rPr lang="en-US" sz="1200" b="1" dirty="0">
                <a:solidFill>
                  <a:srgbClr val="12435A"/>
                </a:solidFill>
                <a:latin typeface="Nunito Sans" pitchFamily="34" charset="0"/>
                <a:ea typeface="Arial" pitchFamily="34" charset="-122"/>
                <a:cs typeface="Arial" pitchFamily="34" charset="-120"/>
              </a:rPr>
              <a:t>TAMISEMI: content and coordination</a:t>
            </a:r>
            <a:r>
              <a:rPr lang="en-US" sz="1200" dirty="0">
                <a:solidFill>
                  <a:srgbClr val="4A5565"/>
                </a:solidFill>
                <a:latin typeface="Nunito Sans" pitchFamily="34" charset="0"/>
                <a:ea typeface="Arial" pitchFamily="34" charset="-122"/>
                <a:cs typeface="Arial" pitchFamily="34" charset="-120"/>
              </a:rPr>
              <a:t> · </a:t>
            </a:r>
            <a:r>
              <a:rPr lang="en-US" sz="1200" b="1" dirty="0">
                <a:solidFill>
                  <a:srgbClr val="4F6B3A"/>
                </a:solidFill>
                <a:latin typeface="Nunito Sans" pitchFamily="34" charset="0"/>
                <a:ea typeface="Arial" pitchFamily="34" charset="-122"/>
                <a:cs typeface="Arial" pitchFamily="34" charset="-120"/>
              </a:rPr>
              <a:t>In the field</a:t>
            </a:r>
            <a:r>
              <a:rPr lang="en-US" sz="1200" dirty="0">
                <a:solidFill>
                  <a:srgbClr val="4A5565"/>
                </a:solidFill>
                <a:latin typeface="Nunito Sans" pitchFamily="34" charset="0"/>
                <a:ea typeface="Arial" pitchFamily="34" charset="-122"/>
                <a:cs typeface="Arial" pitchFamily="34" charset="-120"/>
              </a:rPr>
              <a:t> · </a:t>
            </a:r>
            <a:r>
              <a:rPr lang="en-US" sz="1200" b="1" dirty="0">
                <a:solidFill>
                  <a:srgbClr val="B26A00"/>
                </a:solidFill>
                <a:latin typeface="Nunito Sans" pitchFamily="34" charset="0"/>
                <a:ea typeface="Arial" pitchFamily="34" charset="-122"/>
                <a:cs typeface="Arial" pitchFamily="34" charset="-120"/>
              </a:rPr>
              <a:t>Oversight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BF5"/>
        </a:solidFill>
      </p:bgPr>
    </p:bg>
    <p:spTree>
      <p:nvGrpSpPr>
        <p:cNvPr id="1" name=""/>
        <p:cNvGrpSpPr/>
        <p:nvPr/>
      </p:nvGrpSpPr>
      <p:grpSpPr>
        <a:xfrm>
          <a:off x="0" y="0"/>
          <a:ext cx="0" cy="0"/>
          <a:chOff x="0" y="0"/>
          <a:chExt cx="0" cy="0"/>
        </a:xfrm>
      </p:grpSpPr>
      <p:sp>
        <p:nvSpPr>
          <p:cNvPr id="2" name="Shape 0"/>
          <p:cNvSpPr/>
          <p:nvPr/>
        </p:nvSpPr>
        <p:spPr>
          <a:xfrm>
            <a:off x="812800" y="584200"/>
            <a:ext cx="762000" cy="50800"/>
          </a:xfrm>
          <a:prstGeom prst="roundRect">
            <a:avLst>
              <a:gd name="adj" fmla="val 50000"/>
            </a:avLst>
          </a:prstGeom>
          <a:solidFill>
            <a:srgbClr val="A84B25"/>
          </a:solidFill>
          <a:ln/>
        </p:spPr>
        <p:txBody>
          <a:bodyPr/>
          <a:p/>
        </p:txBody>
      </p:sp>
      <p:sp>
        <p:nvSpPr>
          <p:cNvPr id="3" name="Text 1"/>
          <p:cNvSpPr/>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2303D"/>
                </a:solidFill>
                <a:latin typeface="Domine" pitchFamily="34" charset="0"/>
                <a:ea typeface="Georgia" pitchFamily="34" charset="-122"/>
                <a:cs typeface="Georgia" pitchFamily="34" charset="-120"/>
              </a:rPr>
              <a:t>A plan is pencil. A schedule is ink.</a:t>
            </a:r>
            <a:endParaRPr lang="en-US" sz="3200" dirty="0"/>
          </a:p>
        </p:txBody>
      </p:sp>
      <p:sp>
        <p:nvSpPr>
          <p:cNvPr id="4" name="Shape 2"/>
          <p:cNvSpPr/>
          <p:nvPr/>
        </p:nvSpPr>
        <p:spPr>
          <a:xfrm>
            <a:off x="825500" y="1412230"/>
            <a:ext cx="4914900" cy="2214166"/>
          </a:xfrm>
          <a:prstGeom prst="roundRect">
            <a:avLst>
              <a:gd name="adj" fmla="val 5162"/>
            </a:avLst>
          </a:prstGeom>
          <a:solidFill>
            <a:srgbClr val="F3E9DA"/>
          </a:solidFill>
          <a:ln w="25400">
            <a:solidFill>
              <a:srgbClr val="12435A"/>
            </a:solidFill>
            <a:prstDash val="dash"/>
          </a:ln>
        </p:spPr>
        <p:txBody>
          <a:bodyPr/>
          <a:p/>
        </p:txBody>
      </p:sp>
      <p:sp>
        <p:nvSpPr>
          <p:cNvPr id="5" name="Text 3"/>
          <p:cNvSpPr/>
          <p:nvPr/>
        </p:nvSpPr>
        <p:spPr>
          <a:xfrm>
            <a:off x="1066800" y="1615430"/>
            <a:ext cx="456526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2435A"/>
                </a:solidFill>
                <a:latin typeface="Nunito Sans" pitchFamily="34" charset="0"/>
                <a:ea typeface="Arial" pitchFamily="34" charset="-122"/>
                <a:cs typeface="Arial" pitchFamily="34" charset="-120"/>
              </a:rPr>
              <a:t>PENCIL</a:t>
            </a:r>
            <a:endParaRPr lang="en-US" sz="1200" dirty="0"/>
          </a:p>
        </p:txBody>
      </p:sp>
      <p:sp>
        <p:nvSpPr>
          <p:cNvPr id="6" name="Text 4"/>
          <p:cNvSpPr/>
          <p:nvPr/>
        </p:nvSpPr>
        <p:spPr>
          <a:xfrm>
            <a:off x="1066800" y="1904950"/>
            <a:ext cx="456526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303D"/>
                </a:solidFill>
                <a:latin typeface="Domine" pitchFamily="34" charset="0"/>
                <a:ea typeface="Georgia" pitchFamily="34" charset="-122"/>
                <a:cs typeface="Georgia" pitchFamily="34" charset="-120"/>
              </a:rPr>
              <a:t>The plan</a:t>
            </a:r>
            <a:endParaRPr lang="en-US" sz="2000" dirty="0"/>
          </a:p>
        </p:txBody>
      </p:sp>
      <p:sp>
        <p:nvSpPr>
          <p:cNvPr id="7" name="Text 5"/>
          <p:cNvSpPr/>
          <p:nvPr/>
        </p:nvSpPr>
        <p:spPr>
          <a:xfrm>
            <a:off x="1066800" y="2285950"/>
            <a:ext cx="456526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2435A"/>
                </a:solidFill>
                <a:latin typeface="Nunito Sans" pitchFamily="34" charset="0"/>
                <a:ea typeface="Arial" pitchFamily="34" charset="-122"/>
                <a:cs typeface="Arial" pitchFamily="34" charset="-120"/>
              </a:rPr>
              <a:t>Does the work fit, and what are the trips?</a:t>
            </a:r>
            <a:endParaRPr lang="en-US" sz="1500" dirty="0"/>
          </a:p>
        </p:txBody>
      </p:sp>
      <p:sp>
        <p:nvSpPr>
          <p:cNvPr id="8" name="Text 6"/>
          <p:cNvSpPr/>
          <p:nvPr/>
        </p:nvSpPr>
        <p:spPr>
          <a:xfrm>
            <a:off x="1066800" y="2600275"/>
            <a:ext cx="4565269" cy="848320"/>
          </a:xfrm>
          <a:prstGeom prst="rect">
            <a:avLst/>
          </a:prstGeom>
          <a:noFill/>
          <a:ln/>
        </p:spPr>
        <p:txBody>
          <a:bodyPr wrap="square" lIns="0" tIns="0" rIns="0" bIns="0" rtlCol="0" anchor="t">
            <a:normAutofit/>
          </a:bodyPr>
          <a:lstStyle/>
          <a:p>
            <a:pPr algn="l" marL="342900" indent="-342900">
              <a:lnSpc>
                <a:spcPts val="1620"/>
              </a:lnSpc>
              <a:buSzPct val="100000"/>
              <a:buChar char="•"/>
            </a:pPr>
            <a:r>
              <a:rPr lang="en-US" sz="1200" dirty="0">
                <a:solidFill>
                  <a:srgbClr val="12303D"/>
                </a:solidFill>
                <a:latin typeface="Nunito Sans" pitchFamily="34" charset="0"/>
                <a:ea typeface="Arial" pitchFamily="34" charset="-122"/>
                <a:cs typeface="Arial" pitchFamily="34" charset="-120"/>
              </a:rPr>
              <a:t>Six weeks, one area or district</a:t>
            </a:r>
            <a:endParaRPr lang="en-US" sz="1200" dirty="0"/>
          </a:p>
          <a:p>
            <a:pPr algn="l" marL="342900" indent="-342900">
              <a:lnSpc>
                <a:spcPts val="1620"/>
              </a:lnSpc>
              <a:buSzPct val="100000"/>
              <a:buChar char="•"/>
            </a:pPr>
            <a:r>
              <a:rPr lang="en-US" sz="1200" dirty="0">
                <a:solidFill>
                  <a:srgbClr val="12303D"/>
                </a:solidFill>
                <a:latin typeface="Nunito Sans" pitchFamily="34" charset="0"/>
                <a:ea typeface="Arial" pitchFamily="34" charset="-122"/>
                <a:cs typeface="Arial" pitchFamily="34" charset="-120"/>
              </a:rPr>
              <a:t>Trainer 1, Trainer 2: Trainer n</a:t>
            </a:r>
            <a:endParaRPr lang="en-US" sz="1200" dirty="0"/>
          </a:p>
          <a:p>
            <a:pPr algn="l" marL="342900" indent="-342900">
              <a:lnSpc>
                <a:spcPts val="1620"/>
              </a:lnSpc>
              <a:buSzPct val="100000"/>
              <a:buChar char="•"/>
            </a:pPr>
            <a:r>
              <a:rPr lang="en-US" sz="1200" dirty="0">
                <a:solidFill>
                  <a:srgbClr val="12303D"/>
                </a:solidFill>
                <a:latin typeface="Nunito Sans" pitchFamily="34" charset="0"/>
                <a:ea typeface="Arial" pitchFamily="34" charset="-122"/>
                <a:cs typeface="Arial" pitchFamily="34" charset="-120"/>
              </a:rPr>
              <a:t>Counts trainer-days against visits</a:t>
            </a:r>
            <a:endParaRPr lang="en-US" sz="1200" dirty="0"/>
          </a:p>
          <a:p>
            <a:pPr algn="l" marL="342900" indent="-342900">
              <a:lnSpc>
                <a:spcPts val="1620"/>
              </a:lnSpc>
              <a:buSzPct val="100000"/>
              <a:buChar char="•"/>
            </a:pPr>
            <a:r>
              <a:rPr lang="en-US" sz="1200" dirty="0">
                <a:solidFill>
                  <a:srgbClr val="12303D"/>
                </a:solidFill>
                <a:latin typeface="Nunito Sans" pitchFamily="34" charset="0"/>
                <a:ea typeface="Arial" pitchFamily="34" charset="-122"/>
                <a:cs typeface="Arial" pitchFamily="34" charset="-120"/>
              </a:rPr>
              <a:t>Redraw it as often as you like</a:t>
            </a:r>
            <a:endParaRPr lang="en-US" sz="1200" dirty="0"/>
          </a:p>
        </p:txBody>
      </p:sp>
      <p:pic>
        <p:nvPicPr>
          <p:cNvPr id="9" name="Image 0" descr="connector">    </p:cNvPr>
          <p:cNvPicPr>
            <a:picLocks noChangeAspect="1"/>
          </p:cNvPicPr>
          <p:nvPr/>
        </p:nvPicPr>
        <p:blipFill>
          <a:blip r:embed="rId1"/>
          <a:srcRect l="0" r="0" t="0" b="0"/>
          <a:stretch/>
        </p:blipFill>
        <p:spPr>
          <a:xfrm>
            <a:off x="5746750" y="2398663"/>
            <a:ext cx="673100" cy="241300"/>
          </a:xfrm>
          <a:prstGeom prst="rect">
            <a:avLst/>
          </a:prstGeom>
        </p:spPr>
      </p:pic>
      <p:sp>
        <p:nvSpPr>
          <p:cNvPr id="10" name="Shape 7"/>
          <p:cNvSpPr/>
          <p:nvPr/>
        </p:nvSpPr>
        <p:spPr>
          <a:xfrm>
            <a:off x="6432550" y="1405880"/>
            <a:ext cx="4927600" cy="2226866"/>
          </a:xfrm>
          <a:prstGeom prst="roundRect">
            <a:avLst>
              <a:gd name="adj" fmla="val 4848"/>
            </a:avLst>
          </a:prstGeom>
          <a:solidFill>
            <a:srgbClr val="F3E9DA"/>
          </a:solidFill>
          <a:ln w="38100">
            <a:solidFill>
              <a:srgbClr val="12435A"/>
            </a:solidFill>
            <a:prstDash val="solid"/>
          </a:ln>
        </p:spPr>
        <p:txBody>
          <a:bodyPr/>
          <a:p/>
        </p:txBody>
      </p:sp>
      <p:sp>
        <p:nvSpPr>
          <p:cNvPr id="11" name="Text 8"/>
          <p:cNvSpPr/>
          <p:nvPr/>
        </p:nvSpPr>
        <p:spPr>
          <a:xfrm>
            <a:off x="6680200" y="1615430"/>
            <a:ext cx="456526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2435A"/>
                </a:solidFill>
                <a:latin typeface="Nunito Sans" pitchFamily="34" charset="0"/>
                <a:ea typeface="Arial" pitchFamily="34" charset="-122"/>
                <a:cs typeface="Arial" pitchFamily="34" charset="-120"/>
              </a:rPr>
              <a:t>INK</a:t>
            </a:r>
            <a:endParaRPr lang="en-US" sz="1200" dirty="0"/>
          </a:p>
        </p:txBody>
      </p:sp>
      <p:sp>
        <p:nvSpPr>
          <p:cNvPr id="12" name="Text 9"/>
          <p:cNvSpPr/>
          <p:nvPr/>
        </p:nvSpPr>
        <p:spPr>
          <a:xfrm>
            <a:off x="6680200" y="1904950"/>
            <a:ext cx="456526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303D"/>
                </a:solidFill>
                <a:latin typeface="Domine" pitchFamily="34" charset="0"/>
                <a:ea typeface="Georgia" pitchFamily="34" charset="-122"/>
                <a:cs typeface="Georgia" pitchFamily="34" charset="-120"/>
              </a:rPr>
              <a:t>The schedule</a:t>
            </a:r>
            <a:endParaRPr lang="en-US" sz="2000" dirty="0"/>
          </a:p>
        </p:txBody>
      </p:sp>
      <p:sp>
        <p:nvSpPr>
          <p:cNvPr id="13" name="Text 10"/>
          <p:cNvSpPr/>
          <p:nvPr/>
        </p:nvSpPr>
        <p:spPr>
          <a:xfrm>
            <a:off x="6680200" y="2285950"/>
            <a:ext cx="456526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2435A"/>
                </a:solidFill>
                <a:latin typeface="Nunito Sans" pitchFamily="34" charset="0"/>
                <a:ea typeface="Arial" pitchFamily="34" charset="-122"/>
                <a:cs typeface="Arial" pitchFamily="34" charset="-120"/>
              </a:rPr>
              <a:t>Who goes where, on which day?</a:t>
            </a:r>
            <a:endParaRPr lang="en-US" sz="1500" dirty="0"/>
          </a:p>
        </p:txBody>
      </p:sp>
      <p:sp>
        <p:nvSpPr>
          <p:cNvPr id="14" name="Text 11"/>
          <p:cNvSpPr/>
          <p:nvPr/>
        </p:nvSpPr>
        <p:spPr>
          <a:xfrm>
            <a:off x="6680200" y="2600275"/>
            <a:ext cx="4565269" cy="848320"/>
          </a:xfrm>
          <a:prstGeom prst="rect">
            <a:avLst/>
          </a:prstGeom>
          <a:noFill/>
          <a:ln/>
        </p:spPr>
        <p:txBody>
          <a:bodyPr wrap="square" lIns="0" tIns="0" rIns="0" bIns="0" rtlCol="0" anchor="t">
            <a:normAutofit/>
          </a:bodyPr>
          <a:lstStyle/>
          <a:p>
            <a:pPr algn="l" marL="342900" indent="-342900">
              <a:lnSpc>
                <a:spcPts val="1620"/>
              </a:lnSpc>
              <a:buSzPct val="100000"/>
              <a:buChar char="•"/>
            </a:pPr>
            <a:r>
              <a:rPr lang="en-US" sz="1200" dirty="0">
                <a:solidFill>
                  <a:srgbClr val="12303D"/>
                </a:solidFill>
                <a:latin typeface="Nunito Sans" pitchFamily="34" charset="0"/>
                <a:ea typeface="Arial" pitchFamily="34" charset="-122"/>
                <a:cs typeface="Arial" pitchFamily="34" charset="-120"/>
              </a:rPr>
              <a:t>A named trainer on a fixed date</a:t>
            </a:r>
            <a:endParaRPr lang="en-US" sz="1200" dirty="0"/>
          </a:p>
          <a:p>
            <a:pPr algn="l" marL="342900" indent="-342900">
              <a:lnSpc>
                <a:spcPts val="1620"/>
              </a:lnSpc>
              <a:buSzPct val="100000"/>
              <a:buChar char="•"/>
            </a:pPr>
            <a:r>
              <a:rPr lang="en-US" sz="1200" dirty="0">
                <a:solidFill>
                  <a:srgbClr val="12303D"/>
                </a:solidFill>
                <a:latin typeface="Nunito Sans" pitchFamily="34" charset="0"/>
                <a:ea typeface="Arial" pitchFamily="34" charset="-122"/>
                <a:cs typeface="Arial" pitchFamily="34" charset="-120"/>
              </a:rPr>
              <a:t>Certified, posted there, available</a:t>
            </a:r>
            <a:endParaRPr lang="en-US" sz="1200" dirty="0"/>
          </a:p>
          <a:p>
            <a:pPr algn="l" marL="342900" indent="-342900">
              <a:lnSpc>
                <a:spcPts val="1620"/>
              </a:lnSpc>
              <a:buSzPct val="100000"/>
              <a:buChar char="•"/>
            </a:pPr>
            <a:r>
              <a:rPr lang="en-US" sz="1200" dirty="0">
                <a:solidFill>
                  <a:srgbClr val="12303D"/>
                </a:solidFill>
                <a:latin typeface="Nunito Sans" pitchFamily="34" charset="0"/>
                <a:ea typeface="Arial" pitchFamily="34" charset="-122"/>
                <a:cs typeface="Arial" pitchFamily="34" charset="-120"/>
              </a:rPr>
              <a:t>The trainer sees it, prints the sheet, is told of changes</a:t>
            </a:r>
            <a:endParaRPr lang="en-US" sz="1200" dirty="0"/>
          </a:p>
          <a:p>
            <a:pPr algn="l" marL="342900" indent="-342900">
              <a:lnSpc>
                <a:spcPts val="1620"/>
              </a:lnSpc>
              <a:buSzPct val="100000"/>
              <a:buChar char="•"/>
            </a:pPr>
            <a:r>
              <a:rPr lang="en-US" sz="1200" dirty="0">
                <a:solidFill>
                  <a:srgbClr val="12303D"/>
                </a:solidFill>
                <a:latin typeface="Nunito Sans" pitchFamily="34" charset="0"/>
                <a:ea typeface="Arial" pitchFamily="34" charset="-122"/>
                <a:cs typeface="Arial" pitchFamily="34" charset="-120"/>
              </a:rPr>
              <a:t>To change it: reschedule or cancel, with a reason</a:t>
            </a:r>
            <a:endParaRPr lang="en-US" sz="1200" dirty="0"/>
          </a:p>
        </p:txBody>
      </p:sp>
      <p:pic>
        <p:nvPicPr>
          <p:cNvPr id="15" name="Image 1" descr="connector">    </p:cNvPr>
          <p:cNvPicPr>
            <a:picLocks noChangeAspect="1"/>
          </p:cNvPicPr>
          <p:nvPr/>
        </p:nvPicPr>
        <p:blipFill>
          <a:blip r:embed="rId2"/>
          <a:srcRect l="0" r="0" t="0" b="0"/>
          <a:stretch/>
        </p:blipFill>
        <p:spPr>
          <a:xfrm>
            <a:off x="2146300" y="4218186"/>
            <a:ext cx="698500" cy="355600"/>
          </a:xfrm>
          <a:prstGeom prst="rect">
            <a:avLst/>
          </a:prstGeom>
        </p:spPr>
      </p:pic>
      <p:sp>
        <p:nvSpPr>
          <p:cNvPr id="16" name="Shape 12"/>
          <p:cNvSpPr/>
          <p:nvPr/>
        </p:nvSpPr>
        <p:spPr>
          <a:xfrm>
            <a:off x="2933700" y="3791496"/>
            <a:ext cx="6324600" cy="1208980"/>
          </a:xfrm>
          <a:prstGeom prst="roundRect">
            <a:avLst>
              <a:gd name="adj" fmla="val 9454"/>
            </a:avLst>
          </a:prstGeom>
          <a:solidFill>
            <a:srgbClr val="FFFBF5"/>
          </a:solidFill>
          <a:ln w="25400">
            <a:solidFill>
              <a:srgbClr val="B26A00"/>
            </a:solidFill>
            <a:prstDash val="sysDot"/>
          </a:ln>
        </p:spPr>
        <p:txBody>
          <a:bodyPr/>
          <a:p/>
        </p:txBody>
      </p:sp>
      <p:sp>
        <p:nvSpPr>
          <p:cNvPr id="17" name="Text 13"/>
          <p:cNvSpPr/>
          <p:nvPr/>
        </p:nvSpPr>
        <p:spPr>
          <a:xfrm>
            <a:off x="3124200" y="3931196"/>
            <a:ext cx="612190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26A00"/>
                </a:solidFill>
                <a:latin typeface="Nunito Sans" pitchFamily="34" charset="0"/>
                <a:ea typeface="Arial" pitchFamily="34" charset="-122"/>
                <a:cs typeface="Arial" pitchFamily="34" charset="-120"/>
              </a:rPr>
              <a:t>OPTIONAL · A STICKY NOTE</a:t>
            </a:r>
            <a:endParaRPr lang="en-US" sz="1200" dirty="0"/>
          </a:p>
        </p:txBody>
      </p:sp>
      <p:sp>
        <p:nvSpPr>
          <p:cNvPr id="18" name="Text 14"/>
          <p:cNvSpPr/>
          <p:nvPr/>
        </p:nvSpPr>
        <p:spPr>
          <a:xfrm>
            <a:off x="3124200" y="4182616"/>
            <a:ext cx="61219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2303D"/>
                </a:solidFill>
                <a:latin typeface="Nunito Sans" pitchFamily="34" charset="0"/>
                <a:ea typeface="Arial" pitchFamily="34" charset="-122"/>
                <a:cs typeface="Arial" pitchFamily="34" charset="-120"/>
              </a:rPr>
              <a:t>A draft session, when schedules are tentative</a:t>
            </a:r>
            <a:endParaRPr lang="en-US" sz="1500" dirty="0"/>
          </a:p>
        </p:txBody>
      </p:sp>
      <p:sp>
        <p:nvSpPr>
          <p:cNvPr id="19" name="Text 15"/>
          <p:cNvSpPr/>
          <p:nvPr/>
        </p:nvSpPr>
        <p:spPr>
          <a:xfrm>
            <a:off x="3124200" y="4449316"/>
            <a:ext cx="6121908"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5"/>
                </a:solidFill>
                <a:latin typeface="Nunito Sans" pitchFamily="34" charset="0"/>
                <a:ea typeface="Arial" pitchFamily="34" charset="-122"/>
                <a:cs typeface="Arial" pitchFamily="34" charset="-120"/>
              </a:rPr>
              <a:t>Use it when the trainer is not decided yet, or when a rule refuses the booking. Nobody is told, and its modules are held: the scheduler will not book them again.</a:t>
            </a:r>
            <a:endParaRPr lang="en-US" sz="1200" dirty="0"/>
          </a:p>
        </p:txBody>
      </p:sp>
      <p:pic>
        <p:nvPicPr>
          <p:cNvPr id="20" name="Image 2" descr="connector">    </p:cNvPr>
          <p:cNvPicPr>
            <a:picLocks noChangeAspect="1"/>
          </p:cNvPicPr>
          <p:nvPr/>
        </p:nvPicPr>
        <p:blipFill>
          <a:blip r:embed="rId3"/>
          <a:srcRect l="0" r="0" t="0" b="0"/>
          <a:stretch/>
        </p:blipFill>
        <p:spPr>
          <a:xfrm>
            <a:off x="9347200" y="4218186"/>
            <a:ext cx="698500" cy="355600"/>
          </a:xfrm>
          <a:prstGeom prst="rect">
            <a:avLst/>
          </a:prstGeom>
        </p:spPr>
      </p:pic>
      <p:sp>
        <p:nvSpPr>
          <p:cNvPr id="21" name="Text 16"/>
          <p:cNvSpPr/>
          <p:nvPr/>
        </p:nvSpPr>
        <p:spPr>
          <a:xfrm>
            <a:off x="654304" y="5140176"/>
            <a:ext cx="10883392" cy="273050"/>
          </a:xfrm>
          <a:prstGeom prst="rect">
            <a:avLst/>
          </a:prstGeom>
          <a:noFill/>
          <a:ln/>
        </p:spPr>
        <p:txBody>
          <a:bodyPr wrap="square" lIns="0" tIns="0" rIns="0" bIns="0" rtlCol="0" anchor="t">
            <a:normAutofit/>
          </a:bodyPr>
          <a:lstStyle/>
          <a:p>
            <a:pPr algn="ctr" indent="0" marL="0">
              <a:lnSpc>
                <a:spcPts val="1950"/>
              </a:lnSpc>
              <a:buNone/>
            </a:pPr>
            <a:r>
              <a:rPr lang="en-US" sz="1500" b="1" dirty="0">
                <a:solidFill>
                  <a:srgbClr val="12303D"/>
                </a:solidFill>
                <a:latin typeface="Nunito Sans" pitchFamily="34" charset="0"/>
                <a:ea typeface="Arial" pitchFamily="34" charset="-122"/>
                <a:cs typeface="Arial" pitchFamily="34" charset="-120"/>
              </a:rPr>
              <a:t>The planner proposes. The scheduler decides.</a:t>
            </a:r>
            <a:r>
              <a:rPr lang="en-US" sz="1500" dirty="0">
                <a:solidFill>
                  <a:srgbClr val="12303D"/>
                </a:solidFill>
                <a:latin typeface="Nunito Sans" pitchFamily="34" charset="0"/>
                <a:ea typeface="Arial" pitchFamily="34" charset="-122"/>
                <a:cs typeface="Arial" pitchFamily="34" charset="-120"/>
              </a:rPr>
              <a:t> Every rule is checked at the moment of scheduling.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BF5"/>
        </a:solidFill>
      </p:bgPr>
    </p:bg>
    <p:spTree>
      <p:nvGrpSpPr>
        <p:cNvPr id="1" name=""/>
        <p:cNvGrpSpPr/>
        <p:nvPr/>
      </p:nvGrpSpPr>
      <p:grpSpPr>
        <a:xfrm>
          <a:off x="0" y="0"/>
          <a:ext cx="0" cy="0"/>
          <a:chOff x="0" y="0"/>
          <a:chExt cx="0" cy="0"/>
        </a:xfrm>
      </p:grpSpPr>
      <p:sp>
        <p:nvSpPr>
          <p:cNvPr id="2" name="Shape 0"/>
          <p:cNvSpPr/>
          <p:nvPr/>
        </p:nvSpPr>
        <p:spPr>
          <a:xfrm>
            <a:off x="812800" y="584200"/>
            <a:ext cx="762000" cy="50800"/>
          </a:xfrm>
          <a:prstGeom prst="roundRect">
            <a:avLst>
              <a:gd name="adj" fmla="val 50000"/>
            </a:avLst>
          </a:prstGeom>
          <a:solidFill>
            <a:srgbClr val="A84B25"/>
          </a:solidFill>
          <a:ln/>
        </p:spPr>
        <p:txBody>
          <a:bodyPr/>
          <a:p/>
        </p:txBody>
      </p:sp>
      <p:sp>
        <p:nvSpPr>
          <p:cNvPr id="3" name="Text 1"/>
          <p:cNvSpPr/>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2303D"/>
                </a:solidFill>
                <a:latin typeface="Domine" pitchFamily="34" charset="0"/>
                <a:ea typeface="Georgia" pitchFamily="34" charset="-122"/>
                <a:cs typeface="Georgia" pitchFamily="34" charset="-120"/>
              </a:rPr>
              <a:t>TAMISEMI working with the BDS partner</a:t>
            </a:r>
            <a:endParaRPr lang="en-US" sz="3200" dirty="0"/>
          </a:p>
        </p:txBody>
      </p:sp>
      <p:pic>
        <p:nvPicPr>
          <p:cNvPr id="4" name="Image 0" descr="A roof over the building">    </p:cNvPr>
          <p:cNvPicPr>
            <a:picLocks noChangeAspect="1"/>
          </p:cNvPicPr>
          <p:nvPr/>
        </p:nvPicPr>
        <p:blipFill>
          <a:blip r:embed="rId1"/>
          <a:srcRect l="0" r="0" t="-65" b="-65"/>
          <a:stretch/>
        </p:blipFill>
        <p:spPr>
          <a:xfrm>
            <a:off x="812800" y="1635750"/>
            <a:ext cx="10566400" cy="304800"/>
          </a:xfrm>
          <a:prstGeom prst="rect">
            <a:avLst/>
          </a:prstGeom>
        </p:spPr>
      </p:pic>
      <p:sp>
        <p:nvSpPr>
          <p:cNvPr id="5" name="Shape 2"/>
          <p:cNvSpPr/>
          <p:nvPr/>
        </p:nvSpPr>
        <p:spPr>
          <a:xfrm>
            <a:off x="825500" y="1953250"/>
            <a:ext cx="10541000" cy="2911475"/>
          </a:xfrm>
          <a:prstGeom prst="rect">
            <a:avLst/>
          </a:prstGeom>
          <a:noFill/>
          <a:ln w="25400">
            <a:solidFill>
              <a:srgbClr val="12303D"/>
            </a:solidFill>
            <a:prstDash val="solid"/>
          </a:ln>
        </p:spPr>
        <p:txBody>
          <a:bodyPr/>
          <a:p/>
        </p:txBody>
      </p:sp>
      <p:sp>
        <p:nvSpPr>
          <p:cNvPr id="6" name="Shape 3"/>
          <p:cNvSpPr/>
          <p:nvPr/>
        </p:nvSpPr>
        <p:spPr>
          <a:xfrm>
            <a:off x="838200" y="1965950"/>
            <a:ext cx="1143000" cy="523875"/>
          </a:xfrm>
          <a:prstGeom prst="rect">
            <a:avLst/>
          </a:prstGeom>
          <a:solidFill>
            <a:srgbClr val="12303D"/>
          </a:solidFill>
          <a:ln/>
        </p:spPr>
        <p:txBody>
          <a:bodyPr/>
          <a:p/>
        </p:txBody>
      </p:sp>
      <p:sp>
        <p:nvSpPr>
          <p:cNvPr id="7" name="Text 4"/>
          <p:cNvSpPr/>
          <p:nvPr/>
        </p:nvSpPr>
        <p:spPr>
          <a:xfrm>
            <a:off x="812800" y="2016750"/>
            <a:ext cx="1193800" cy="447675"/>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FFFBF5"/>
                </a:solidFill>
                <a:latin typeface="Nunito Sans" pitchFamily="34" charset="0"/>
                <a:ea typeface="Arial" pitchFamily="34" charset="-122"/>
                <a:cs typeface="Arial" pitchFamily="34" charset="-120"/>
              </a:rPr>
              <a:t>NATIONAL</a:t>
            </a:r>
            <a:endParaRPr lang="en-US" sz="1200" dirty="0"/>
          </a:p>
        </p:txBody>
      </p:sp>
      <p:sp>
        <p:nvSpPr>
          <p:cNvPr id="8" name="Shape 5"/>
          <p:cNvSpPr/>
          <p:nvPr/>
        </p:nvSpPr>
        <p:spPr>
          <a:xfrm>
            <a:off x="1981200" y="1965950"/>
            <a:ext cx="3352800" cy="523875"/>
          </a:xfrm>
          <a:prstGeom prst="rect">
            <a:avLst/>
          </a:prstGeom>
          <a:solidFill>
            <a:srgbClr val="FFFBF5"/>
          </a:solidFill>
          <a:ln/>
        </p:spPr>
        <p:txBody>
          <a:bodyPr/>
          <a:p/>
        </p:txBody>
      </p:sp>
      <p:sp>
        <p:nvSpPr>
          <p:cNvPr id="9" name="Text 6"/>
          <p:cNvSpPr/>
          <p:nvPr/>
        </p:nvSpPr>
        <p:spPr>
          <a:xfrm>
            <a:off x="2133600" y="2016750"/>
            <a:ext cx="3139440"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2435A"/>
                </a:solidFill>
                <a:latin typeface="Nunito Sans" pitchFamily="34" charset="0"/>
                <a:ea typeface="Arial" pitchFamily="34" charset="-122"/>
                <a:cs typeface="Arial" pitchFamily="34" charset="-120"/>
              </a:rPr>
              <a:t>Administrator, TAMISEMI</a:t>
            </a:r>
            <a:endParaRPr lang="en-US" sz="1500" dirty="0"/>
          </a:p>
        </p:txBody>
      </p:sp>
      <p:sp>
        <p:nvSpPr>
          <p:cNvPr id="10" name="Text 7"/>
          <p:cNvSpPr/>
          <p:nvPr/>
        </p:nvSpPr>
        <p:spPr>
          <a:xfrm>
            <a:off x="2133600" y="2248525"/>
            <a:ext cx="31394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5"/>
                </a:solidFill>
                <a:latin typeface="Nunito Sans" pitchFamily="34" charset="0"/>
                <a:ea typeface="Arial" pitchFamily="34" charset="-122"/>
                <a:cs typeface="Arial" pitchFamily="34" charset="-120"/>
              </a:rPr>
              <a:t>Owns the platform</a:t>
            </a:r>
            <a:endParaRPr lang="en-US" sz="1200" dirty="0"/>
          </a:p>
        </p:txBody>
      </p:sp>
      <p:sp>
        <p:nvSpPr>
          <p:cNvPr id="11" name="Shape 8"/>
          <p:cNvSpPr/>
          <p:nvPr/>
        </p:nvSpPr>
        <p:spPr>
          <a:xfrm>
            <a:off x="5334000" y="1965950"/>
            <a:ext cx="2667000" cy="523875"/>
          </a:xfrm>
          <a:prstGeom prst="rect">
            <a:avLst/>
          </a:prstGeom>
          <a:solidFill>
            <a:srgbClr val="12303D"/>
          </a:solidFill>
          <a:ln/>
        </p:spPr>
        <p:txBody>
          <a:bodyPr/>
          <a:p/>
        </p:txBody>
      </p:sp>
      <p:sp>
        <p:nvSpPr>
          <p:cNvPr id="12" name="Text 9"/>
          <p:cNvSpPr/>
          <p:nvPr/>
        </p:nvSpPr>
        <p:spPr>
          <a:xfrm>
            <a:off x="5411724" y="2016750"/>
            <a:ext cx="2511552" cy="447675"/>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FFFBF5"/>
                </a:solidFill>
                <a:latin typeface="Nunito Sans" pitchFamily="34" charset="0"/>
                <a:ea typeface="Arial" pitchFamily="34" charset="-122"/>
                <a:cs typeface="Arial" pitchFamily="34" charset="-120"/>
              </a:rPr>
              <a:t>standards down, certified trainers up</a:t>
            </a:r>
            <a:endParaRPr lang="en-US" sz="1200" dirty="0"/>
          </a:p>
        </p:txBody>
      </p:sp>
      <p:sp>
        <p:nvSpPr>
          <p:cNvPr id="13" name="Shape 10"/>
          <p:cNvSpPr/>
          <p:nvPr/>
        </p:nvSpPr>
        <p:spPr>
          <a:xfrm>
            <a:off x="8001000" y="1965950"/>
            <a:ext cx="3352800" cy="523875"/>
          </a:xfrm>
          <a:prstGeom prst="rect">
            <a:avLst/>
          </a:prstGeom>
          <a:solidFill>
            <a:srgbClr val="FFFBF5"/>
          </a:solidFill>
          <a:ln/>
        </p:spPr>
        <p:txBody>
          <a:bodyPr/>
          <a:p/>
        </p:txBody>
      </p:sp>
      <p:sp>
        <p:nvSpPr>
          <p:cNvPr id="14" name="Text 11"/>
          <p:cNvSpPr/>
          <p:nvPr/>
        </p:nvSpPr>
        <p:spPr>
          <a:xfrm>
            <a:off x="8153400" y="2016750"/>
            <a:ext cx="3139440"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A84B25"/>
                </a:solidFill>
                <a:latin typeface="Nunito Sans" pitchFamily="34" charset="0"/>
                <a:ea typeface="Arial" pitchFamily="34" charset="-122"/>
                <a:cs typeface="Arial" pitchFamily="34" charset="-120"/>
              </a:rPr>
              <a:t>Partner manager</a:t>
            </a:r>
            <a:endParaRPr lang="en-US" sz="1500" dirty="0"/>
          </a:p>
        </p:txBody>
      </p:sp>
      <p:sp>
        <p:nvSpPr>
          <p:cNvPr id="15" name="Text 12"/>
          <p:cNvSpPr/>
          <p:nvPr/>
        </p:nvSpPr>
        <p:spPr>
          <a:xfrm>
            <a:off x="8153400" y="2248525"/>
            <a:ext cx="31394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5"/>
                </a:solidFill>
                <a:latin typeface="Nunito Sans" pitchFamily="34" charset="0"/>
                <a:ea typeface="Arial" pitchFamily="34" charset="-122"/>
                <a:cs typeface="Arial" pitchFamily="34" charset="-120"/>
              </a:rPr>
              <a:t>Certifies the trainers</a:t>
            </a:r>
            <a:endParaRPr lang="en-US" sz="1200" dirty="0"/>
          </a:p>
        </p:txBody>
      </p:sp>
      <p:sp>
        <p:nvSpPr>
          <p:cNvPr id="16" name="Shape 13"/>
          <p:cNvSpPr/>
          <p:nvPr/>
        </p:nvSpPr>
        <p:spPr>
          <a:xfrm>
            <a:off x="838200" y="2499350"/>
            <a:ext cx="10515600" cy="0"/>
          </a:xfrm>
          <a:prstGeom prst="line">
            <a:avLst/>
          </a:prstGeom>
          <a:noFill/>
          <a:ln w="19050">
            <a:solidFill>
              <a:srgbClr val="12303D"/>
            </a:solidFill>
            <a:prstDash val="solid"/>
          </a:ln>
        </p:spPr>
        <p:txBody>
          <a:bodyPr/>
          <a:p/>
        </p:txBody>
      </p:sp>
      <p:sp>
        <p:nvSpPr>
          <p:cNvPr id="17" name="Shape 14"/>
          <p:cNvSpPr/>
          <p:nvPr/>
        </p:nvSpPr>
        <p:spPr>
          <a:xfrm>
            <a:off x="838200" y="2508875"/>
            <a:ext cx="1143000" cy="523875"/>
          </a:xfrm>
          <a:prstGeom prst="rect">
            <a:avLst/>
          </a:prstGeom>
          <a:solidFill>
            <a:srgbClr val="3E7089"/>
          </a:solidFill>
          <a:ln/>
        </p:spPr>
        <p:txBody>
          <a:bodyPr/>
          <a:p/>
        </p:txBody>
      </p:sp>
      <p:sp>
        <p:nvSpPr>
          <p:cNvPr id="18" name="Text 15"/>
          <p:cNvSpPr/>
          <p:nvPr/>
        </p:nvSpPr>
        <p:spPr>
          <a:xfrm>
            <a:off x="812800" y="2559675"/>
            <a:ext cx="1193800" cy="447675"/>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FFFBF5"/>
                </a:solidFill>
                <a:latin typeface="Nunito Sans" pitchFamily="34" charset="0"/>
                <a:ea typeface="Arial" pitchFamily="34" charset="-122"/>
                <a:cs typeface="Arial" pitchFamily="34" charset="-120"/>
              </a:rPr>
              <a:t>REGION</a:t>
            </a:r>
            <a:endParaRPr lang="en-US" sz="1200" dirty="0"/>
          </a:p>
        </p:txBody>
      </p:sp>
      <p:sp>
        <p:nvSpPr>
          <p:cNvPr id="19" name="Shape 16"/>
          <p:cNvSpPr/>
          <p:nvPr/>
        </p:nvSpPr>
        <p:spPr>
          <a:xfrm>
            <a:off x="1981200" y="2508875"/>
            <a:ext cx="3352800" cy="523875"/>
          </a:xfrm>
          <a:prstGeom prst="rect">
            <a:avLst/>
          </a:prstGeom>
          <a:solidFill>
            <a:srgbClr val="FFFBF5"/>
          </a:solidFill>
          <a:ln/>
        </p:spPr>
        <p:txBody>
          <a:bodyPr/>
          <a:p/>
        </p:txBody>
      </p:sp>
      <p:sp>
        <p:nvSpPr>
          <p:cNvPr id="20" name="Text 17"/>
          <p:cNvSpPr/>
          <p:nvPr/>
        </p:nvSpPr>
        <p:spPr>
          <a:xfrm>
            <a:off x="2133600" y="2559675"/>
            <a:ext cx="3139440"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2435A"/>
                </a:solidFill>
                <a:latin typeface="Nunito Sans" pitchFamily="34" charset="0"/>
                <a:ea typeface="Arial" pitchFamily="34" charset="-122"/>
                <a:cs typeface="Arial" pitchFamily="34" charset="-120"/>
              </a:rPr>
              <a:t>Regional coordinator</a:t>
            </a:r>
            <a:endParaRPr lang="en-US" sz="1500" dirty="0"/>
          </a:p>
        </p:txBody>
      </p:sp>
      <p:sp>
        <p:nvSpPr>
          <p:cNvPr id="21" name="Text 18"/>
          <p:cNvSpPr/>
          <p:nvPr/>
        </p:nvSpPr>
        <p:spPr>
          <a:xfrm>
            <a:off x="2133600" y="2791450"/>
            <a:ext cx="31394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5"/>
                </a:solidFill>
                <a:latin typeface="Nunito Sans" pitchFamily="34" charset="0"/>
                <a:ea typeface="Arial" pitchFamily="34" charset="-122"/>
                <a:cs typeface="Arial" pitchFamily="34" charset="-120"/>
              </a:rPr>
              <a:t>Oversees the districts, covers</a:t>
            </a:r>
            <a:endParaRPr lang="en-US" sz="1200" dirty="0"/>
          </a:p>
        </p:txBody>
      </p:sp>
      <p:sp>
        <p:nvSpPr>
          <p:cNvPr id="22" name="Shape 19"/>
          <p:cNvSpPr/>
          <p:nvPr/>
        </p:nvSpPr>
        <p:spPr>
          <a:xfrm>
            <a:off x="5334000" y="2508875"/>
            <a:ext cx="2667000" cy="523875"/>
          </a:xfrm>
          <a:prstGeom prst="rect">
            <a:avLst/>
          </a:prstGeom>
          <a:solidFill>
            <a:srgbClr val="3E7089"/>
          </a:solidFill>
          <a:ln/>
        </p:spPr>
        <p:txBody>
          <a:bodyPr/>
          <a:p/>
        </p:txBody>
      </p:sp>
      <p:sp>
        <p:nvSpPr>
          <p:cNvPr id="23" name="Text 20"/>
          <p:cNvSpPr/>
          <p:nvPr/>
        </p:nvSpPr>
        <p:spPr>
          <a:xfrm>
            <a:off x="5411724" y="2559675"/>
            <a:ext cx="2511552" cy="447675"/>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FFFBF5"/>
                </a:solidFill>
                <a:latin typeface="Nunito Sans" pitchFamily="34" charset="0"/>
                <a:ea typeface="Arial" pitchFamily="34" charset="-122"/>
                <a:cs typeface="Arial" pitchFamily="34" charset="-120"/>
              </a:rPr>
              <a:t>postings confirmed; 1 report in 20 sampled</a:t>
            </a:r>
            <a:endParaRPr lang="en-US" sz="1200" dirty="0"/>
          </a:p>
        </p:txBody>
      </p:sp>
      <p:sp>
        <p:nvSpPr>
          <p:cNvPr id="24" name="Shape 21"/>
          <p:cNvSpPr/>
          <p:nvPr/>
        </p:nvSpPr>
        <p:spPr>
          <a:xfrm>
            <a:off x="8001000" y="2508875"/>
            <a:ext cx="3352800" cy="523875"/>
          </a:xfrm>
          <a:prstGeom prst="rect">
            <a:avLst/>
          </a:prstGeom>
          <a:solidFill>
            <a:srgbClr val="FFFBF5"/>
          </a:solidFill>
          <a:ln/>
        </p:spPr>
        <p:txBody>
          <a:bodyPr/>
          <a:p/>
        </p:txBody>
      </p:sp>
      <p:sp>
        <p:nvSpPr>
          <p:cNvPr id="25" name="Text 22"/>
          <p:cNvSpPr/>
          <p:nvPr/>
        </p:nvSpPr>
        <p:spPr>
          <a:xfrm>
            <a:off x="8153400" y="2559675"/>
            <a:ext cx="3139440"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A84B25"/>
                </a:solidFill>
                <a:latin typeface="Nunito Sans" pitchFamily="34" charset="0"/>
                <a:ea typeface="Arial" pitchFamily="34" charset="-122"/>
                <a:cs typeface="Arial" pitchFamily="34" charset="-120"/>
              </a:rPr>
              <a:t>Partner regional lead</a:t>
            </a:r>
            <a:endParaRPr lang="en-US" sz="1500" dirty="0"/>
          </a:p>
        </p:txBody>
      </p:sp>
      <p:sp>
        <p:nvSpPr>
          <p:cNvPr id="26" name="Text 23"/>
          <p:cNvSpPr/>
          <p:nvPr/>
        </p:nvSpPr>
        <p:spPr>
          <a:xfrm>
            <a:off x="8153400" y="2791450"/>
            <a:ext cx="31394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5"/>
                </a:solidFill>
                <a:latin typeface="Nunito Sans" pitchFamily="34" charset="0"/>
                <a:ea typeface="Arial" pitchFamily="34" charset="-122"/>
                <a:cs typeface="Arial" pitchFamily="34" charset="-120"/>
              </a:rPr>
              <a:t>Posts trainers where needed</a:t>
            </a:r>
            <a:endParaRPr lang="en-US" sz="1200" dirty="0"/>
          </a:p>
        </p:txBody>
      </p:sp>
      <p:sp>
        <p:nvSpPr>
          <p:cNvPr id="27" name="Shape 24"/>
          <p:cNvSpPr/>
          <p:nvPr/>
        </p:nvSpPr>
        <p:spPr>
          <a:xfrm>
            <a:off x="838200" y="3042275"/>
            <a:ext cx="10515600" cy="0"/>
          </a:xfrm>
          <a:prstGeom prst="line">
            <a:avLst/>
          </a:prstGeom>
          <a:noFill/>
          <a:ln w="19050">
            <a:solidFill>
              <a:srgbClr val="12303D"/>
            </a:solidFill>
            <a:prstDash val="solid"/>
          </a:ln>
        </p:spPr>
        <p:txBody>
          <a:bodyPr/>
          <a:p/>
        </p:txBody>
      </p:sp>
      <p:sp>
        <p:nvSpPr>
          <p:cNvPr id="28" name="Shape 25"/>
          <p:cNvSpPr/>
          <p:nvPr/>
        </p:nvSpPr>
        <p:spPr>
          <a:xfrm>
            <a:off x="838200" y="3051800"/>
            <a:ext cx="1143000" cy="714375"/>
          </a:xfrm>
          <a:prstGeom prst="rect">
            <a:avLst/>
          </a:prstGeom>
          <a:solidFill>
            <a:srgbClr val="1F5A6B"/>
          </a:solidFill>
          <a:ln/>
        </p:spPr>
        <p:txBody>
          <a:bodyPr/>
          <a:p/>
        </p:txBody>
      </p:sp>
      <p:sp>
        <p:nvSpPr>
          <p:cNvPr id="29" name="Text 26"/>
          <p:cNvSpPr/>
          <p:nvPr/>
        </p:nvSpPr>
        <p:spPr>
          <a:xfrm>
            <a:off x="812800" y="3102600"/>
            <a:ext cx="1193800" cy="638175"/>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FFFBF5"/>
                </a:solidFill>
                <a:latin typeface="Nunito Sans" pitchFamily="34" charset="0"/>
                <a:ea typeface="Arial" pitchFamily="34" charset="-122"/>
                <a:cs typeface="Arial" pitchFamily="34" charset="-120"/>
              </a:rPr>
              <a:t>DISTRICT</a:t>
            </a:r>
            <a:endParaRPr lang="en-US" sz="1200" dirty="0"/>
          </a:p>
        </p:txBody>
      </p:sp>
      <p:sp>
        <p:nvSpPr>
          <p:cNvPr id="30" name="Shape 27"/>
          <p:cNvSpPr/>
          <p:nvPr/>
        </p:nvSpPr>
        <p:spPr>
          <a:xfrm>
            <a:off x="1981200" y="3051800"/>
            <a:ext cx="3352800" cy="714375"/>
          </a:xfrm>
          <a:prstGeom prst="rect">
            <a:avLst/>
          </a:prstGeom>
          <a:solidFill>
            <a:srgbClr val="FFFBF5"/>
          </a:solidFill>
          <a:ln/>
        </p:spPr>
        <p:txBody>
          <a:bodyPr/>
          <a:p/>
        </p:txBody>
      </p:sp>
      <p:sp>
        <p:nvSpPr>
          <p:cNvPr id="31" name="Text 28"/>
          <p:cNvSpPr/>
          <p:nvPr/>
        </p:nvSpPr>
        <p:spPr>
          <a:xfrm>
            <a:off x="2133600" y="3102600"/>
            <a:ext cx="3139440"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2435A"/>
                </a:solidFill>
                <a:latin typeface="Nunito Sans" pitchFamily="34" charset="0"/>
                <a:ea typeface="Arial" pitchFamily="34" charset="-122"/>
                <a:cs typeface="Arial" pitchFamily="34" charset="-120"/>
              </a:rPr>
              <a:t>The coordinator</a:t>
            </a:r>
            <a:endParaRPr lang="en-US" sz="1500" dirty="0"/>
          </a:p>
        </p:txBody>
      </p:sp>
      <p:sp>
        <p:nvSpPr>
          <p:cNvPr id="32" name="Text 29"/>
          <p:cNvSpPr/>
          <p:nvPr/>
        </p:nvSpPr>
        <p:spPr>
          <a:xfrm>
            <a:off x="2133600" y="3334375"/>
            <a:ext cx="313944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5"/>
                </a:solidFill>
                <a:latin typeface="Nunito Sans" pitchFamily="34" charset="0"/>
                <a:ea typeface="Arial" pitchFamily="34" charset="-122"/>
                <a:cs typeface="Arial" pitchFamily="34" charset="-120"/>
              </a:rPr>
              <a:t>With the district officer, who registers the groups</a:t>
            </a:r>
            <a:endParaRPr lang="en-US" sz="1200" dirty="0"/>
          </a:p>
        </p:txBody>
      </p:sp>
      <p:sp>
        <p:nvSpPr>
          <p:cNvPr id="33" name="Shape 30"/>
          <p:cNvSpPr/>
          <p:nvPr/>
        </p:nvSpPr>
        <p:spPr>
          <a:xfrm>
            <a:off x="5334000" y="3051800"/>
            <a:ext cx="2667000" cy="714375"/>
          </a:xfrm>
          <a:prstGeom prst="rect">
            <a:avLst/>
          </a:prstGeom>
          <a:solidFill>
            <a:srgbClr val="1F5A6B"/>
          </a:solidFill>
          <a:ln/>
        </p:spPr>
        <p:txBody>
          <a:bodyPr/>
          <a:p/>
        </p:txBody>
      </p:sp>
      <p:sp>
        <p:nvSpPr>
          <p:cNvPr id="34" name="Text 31"/>
          <p:cNvSpPr/>
          <p:nvPr/>
        </p:nvSpPr>
        <p:spPr>
          <a:xfrm>
            <a:off x="5411724" y="3102600"/>
            <a:ext cx="2511552" cy="638175"/>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FFFBF5"/>
                </a:solidFill>
                <a:latin typeface="Nunito Sans" pitchFamily="34" charset="0"/>
                <a:ea typeface="Arial" pitchFamily="34" charset="-122"/>
                <a:cs typeface="Arial" pitchFamily="34" charset="-120"/>
              </a:rPr>
              <a:t>only registered groups can be trained</a:t>
            </a:r>
            <a:endParaRPr lang="en-US" sz="1200" dirty="0"/>
          </a:p>
        </p:txBody>
      </p:sp>
      <p:sp>
        <p:nvSpPr>
          <p:cNvPr id="35" name="Shape 32"/>
          <p:cNvSpPr/>
          <p:nvPr/>
        </p:nvSpPr>
        <p:spPr>
          <a:xfrm>
            <a:off x="8001000" y="3051800"/>
            <a:ext cx="3352800" cy="714375"/>
          </a:xfrm>
          <a:prstGeom prst="rect">
            <a:avLst/>
          </a:prstGeom>
          <a:solidFill>
            <a:srgbClr val="FFFBF5"/>
          </a:solidFill>
          <a:ln/>
        </p:spPr>
        <p:txBody>
          <a:bodyPr/>
          <a:p/>
        </p:txBody>
      </p:sp>
      <p:sp>
        <p:nvSpPr>
          <p:cNvPr id="36" name="Text 33"/>
          <p:cNvSpPr/>
          <p:nvPr/>
        </p:nvSpPr>
        <p:spPr>
          <a:xfrm>
            <a:off x="8153400" y="3197850"/>
            <a:ext cx="3139440"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4A5565"/>
                </a:solidFill>
                <a:latin typeface="Nunito Sans" pitchFamily="34" charset="0"/>
                <a:ea typeface="Arial" pitchFamily="34" charset="-122"/>
                <a:cs typeface="Arial" pitchFamily="34" charset="-120"/>
              </a:rPr>
              <a:t>No counterpart yet</a:t>
            </a:r>
            <a:endParaRPr lang="en-US" sz="1500" dirty="0"/>
          </a:p>
        </p:txBody>
      </p:sp>
      <p:sp>
        <p:nvSpPr>
          <p:cNvPr id="37" name="Text 34"/>
          <p:cNvSpPr/>
          <p:nvPr/>
        </p:nvSpPr>
        <p:spPr>
          <a:xfrm>
            <a:off x="8153400" y="3429625"/>
            <a:ext cx="31394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5"/>
                </a:solidFill>
                <a:latin typeface="Nunito Sans" pitchFamily="34" charset="0"/>
                <a:ea typeface="Arial" pitchFamily="34" charset="-122"/>
                <a:cs typeface="Arial" pitchFamily="34" charset="-120"/>
              </a:rPr>
              <a:t>Partner mirrors region and area</a:t>
            </a:r>
            <a:endParaRPr lang="en-US" sz="1200" dirty="0"/>
          </a:p>
        </p:txBody>
      </p:sp>
      <p:sp>
        <p:nvSpPr>
          <p:cNvPr id="38" name="Shape 35"/>
          <p:cNvSpPr/>
          <p:nvPr/>
        </p:nvSpPr>
        <p:spPr>
          <a:xfrm>
            <a:off x="838200" y="3775700"/>
            <a:ext cx="10515600" cy="0"/>
          </a:xfrm>
          <a:prstGeom prst="line">
            <a:avLst/>
          </a:prstGeom>
          <a:noFill/>
          <a:ln w="19050">
            <a:solidFill>
              <a:srgbClr val="12303D"/>
            </a:solidFill>
            <a:prstDash val="solid"/>
          </a:ln>
        </p:spPr>
        <p:txBody>
          <a:bodyPr/>
          <a:p/>
        </p:txBody>
      </p:sp>
      <p:sp>
        <p:nvSpPr>
          <p:cNvPr id="39" name="Shape 36"/>
          <p:cNvSpPr/>
          <p:nvPr/>
        </p:nvSpPr>
        <p:spPr>
          <a:xfrm>
            <a:off x="838200" y="3785225"/>
            <a:ext cx="1143000" cy="523875"/>
          </a:xfrm>
          <a:prstGeom prst="rect">
            <a:avLst/>
          </a:prstGeom>
          <a:solidFill>
            <a:srgbClr val="B26A00"/>
          </a:solidFill>
          <a:ln/>
        </p:spPr>
        <p:txBody>
          <a:bodyPr/>
          <a:p/>
        </p:txBody>
      </p:sp>
      <p:sp>
        <p:nvSpPr>
          <p:cNvPr id="40" name="Text 37"/>
          <p:cNvSpPr/>
          <p:nvPr/>
        </p:nvSpPr>
        <p:spPr>
          <a:xfrm>
            <a:off x="812800" y="3836025"/>
            <a:ext cx="1193800" cy="447675"/>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FFFBF5"/>
                </a:solidFill>
                <a:latin typeface="Nunito Sans" pitchFamily="34" charset="0"/>
                <a:ea typeface="Arial" pitchFamily="34" charset="-122"/>
                <a:cs typeface="Arial" pitchFamily="34" charset="-120"/>
              </a:rPr>
              <a:t>AREA</a:t>
            </a:r>
            <a:endParaRPr lang="en-US" sz="1200" dirty="0"/>
          </a:p>
        </p:txBody>
      </p:sp>
      <p:sp>
        <p:nvSpPr>
          <p:cNvPr id="41" name="Shape 38"/>
          <p:cNvSpPr/>
          <p:nvPr/>
        </p:nvSpPr>
        <p:spPr>
          <a:xfrm>
            <a:off x="1981200" y="3785225"/>
            <a:ext cx="3352800" cy="523875"/>
          </a:xfrm>
          <a:prstGeom prst="rect">
            <a:avLst/>
          </a:prstGeom>
          <a:solidFill>
            <a:srgbClr val="FFFBF5"/>
          </a:solidFill>
          <a:ln/>
        </p:spPr>
        <p:txBody>
          <a:bodyPr/>
          <a:p/>
        </p:txBody>
      </p:sp>
      <p:sp>
        <p:nvSpPr>
          <p:cNvPr id="42" name="Text 39"/>
          <p:cNvSpPr/>
          <p:nvPr/>
        </p:nvSpPr>
        <p:spPr>
          <a:xfrm>
            <a:off x="2133600" y="3836025"/>
            <a:ext cx="3139440"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2435A"/>
                </a:solidFill>
                <a:latin typeface="Nunito Sans" pitchFamily="34" charset="0"/>
                <a:ea typeface="Arial" pitchFamily="34" charset="-122"/>
                <a:cs typeface="Arial" pitchFamily="34" charset="-120"/>
              </a:rPr>
              <a:t>Area coordinator + stand-in</a:t>
            </a:r>
            <a:endParaRPr lang="en-US" sz="1500" dirty="0"/>
          </a:p>
        </p:txBody>
      </p:sp>
      <p:sp>
        <p:nvSpPr>
          <p:cNvPr id="43" name="Text 40"/>
          <p:cNvSpPr/>
          <p:nvPr/>
        </p:nvSpPr>
        <p:spPr>
          <a:xfrm>
            <a:off x="2133600" y="4067800"/>
            <a:ext cx="31394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5"/>
                </a:solidFill>
                <a:latin typeface="Nunito Sans" pitchFamily="34" charset="0"/>
                <a:ea typeface="Arial" pitchFamily="34" charset="-122"/>
                <a:cs typeface="Arial" pitchFamily="34" charset="-120"/>
              </a:rPr>
              <a:t>Plans, schedules, accepts</a:t>
            </a:r>
            <a:endParaRPr lang="en-US" sz="1200" dirty="0"/>
          </a:p>
        </p:txBody>
      </p:sp>
      <p:sp>
        <p:nvSpPr>
          <p:cNvPr id="44" name="Shape 41"/>
          <p:cNvSpPr/>
          <p:nvPr/>
        </p:nvSpPr>
        <p:spPr>
          <a:xfrm>
            <a:off x="5334000" y="3785225"/>
            <a:ext cx="2667000" cy="523875"/>
          </a:xfrm>
          <a:prstGeom prst="rect">
            <a:avLst/>
          </a:prstGeom>
          <a:solidFill>
            <a:srgbClr val="B26A00"/>
          </a:solidFill>
          <a:ln/>
        </p:spPr>
        <p:txBody>
          <a:bodyPr/>
          <a:p/>
        </p:txBody>
      </p:sp>
      <p:sp>
        <p:nvSpPr>
          <p:cNvPr id="45" name="Text 42"/>
          <p:cNvSpPr/>
          <p:nvPr/>
        </p:nvSpPr>
        <p:spPr>
          <a:xfrm>
            <a:off x="5411724" y="3836025"/>
            <a:ext cx="2511552" cy="447675"/>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FFFBF5"/>
                </a:solidFill>
                <a:latin typeface="Nunito Sans" pitchFamily="34" charset="0"/>
                <a:ea typeface="Arial" pitchFamily="34" charset="-122"/>
                <a:cs typeface="Arial" pitchFamily="34" charset="-120"/>
              </a:rPr>
              <a:t>handed across, one area at a time</a:t>
            </a:r>
            <a:endParaRPr lang="en-US" sz="1200" dirty="0"/>
          </a:p>
        </p:txBody>
      </p:sp>
      <p:sp>
        <p:nvSpPr>
          <p:cNvPr id="46" name="Shape 43"/>
          <p:cNvSpPr/>
          <p:nvPr/>
        </p:nvSpPr>
        <p:spPr>
          <a:xfrm>
            <a:off x="8001000" y="3785225"/>
            <a:ext cx="3352800" cy="523875"/>
          </a:xfrm>
          <a:prstGeom prst="rect">
            <a:avLst/>
          </a:prstGeom>
          <a:solidFill>
            <a:srgbClr val="FFFBF5"/>
          </a:solidFill>
          <a:ln/>
        </p:spPr>
        <p:txBody>
          <a:bodyPr/>
          <a:p/>
        </p:txBody>
      </p:sp>
      <p:sp>
        <p:nvSpPr>
          <p:cNvPr id="47" name="Text 44"/>
          <p:cNvSpPr/>
          <p:nvPr/>
        </p:nvSpPr>
        <p:spPr>
          <a:xfrm>
            <a:off x="8153400" y="3836025"/>
            <a:ext cx="3139440"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A84B25"/>
                </a:solidFill>
                <a:latin typeface="Nunito Sans" pitchFamily="34" charset="0"/>
                <a:ea typeface="Arial" pitchFamily="34" charset="-122"/>
                <a:cs typeface="Arial" pitchFamily="34" charset="-120"/>
              </a:rPr>
              <a:t>Partner area coordinator</a:t>
            </a:r>
            <a:endParaRPr lang="en-US" sz="1500" dirty="0"/>
          </a:p>
        </p:txBody>
      </p:sp>
      <p:sp>
        <p:nvSpPr>
          <p:cNvPr id="48" name="Text 45"/>
          <p:cNvSpPr/>
          <p:nvPr/>
        </p:nvSpPr>
        <p:spPr>
          <a:xfrm>
            <a:off x="8153400" y="4067800"/>
            <a:ext cx="31394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5"/>
                </a:solidFill>
                <a:latin typeface="Nunito Sans" pitchFamily="34" charset="0"/>
                <a:ea typeface="Arial" pitchFamily="34" charset="-122"/>
                <a:cs typeface="Arial" pitchFamily="34" charset="-120"/>
              </a:rPr>
              <a:t>Takes over after a handoff</a:t>
            </a:r>
            <a:endParaRPr lang="en-US" sz="1200" dirty="0"/>
          </a:p>
        </p:txBody>
      </p:sp>
      <p:sp>
        <p:nvSpPr>
          <p:cNvPr id="49" name="Shape 46"/>
          <p:cNvSpPr/>
          <p:nvPr/>
        </p:nvSpPr>
        <p:spPr>
          <a:xfrm>
            <a:off x="838200" y="4318625"/>
            <a:ext cx="10515600" cy="0"/>
          </a:xfrm>
          <a:prstGeom prst="line">
            <a:avLst/>
          </a:prstGeom>
          <a:noFill/>
          <a:ln w="19050">
            <a:solidFill>
              <a:srgbClr val="12303D"/>
            </a:solidFill>
            <a:prstDash val="solid"/>
          </a:ln>
        </p:spPr>
        <p:txBody>
          <a:bodyPr/>
          <a:p/>
        </p:txBody>
      </p:sp>
      <p:sp>
        <p:nvSpPr>
          <p:cNvPr id="50" name="Shape 47"/>
          <p:cNvSpPr/>
          <p:nvPr/>
        </p:nvSpPr>
        <p:spPr>
          <a:xfrm>
            <a:off x="838200" y="4328150"/>
            <a:ext cx="1143000" cy="523875"/>
          </a:xfrm>
          <a:prstGeom prst="rect">
            <a:avLst/>
          </a:prstGeom>
          <a:solidFill>
            <a:srgbClr val="4F6B3A"/>
          </a:solidFill>
          <a:ln/>
        </p:spPr>
        <p:txBody>
          <a:bodyPr/>
          <a:p/>
        </p:txBody>
      </p:sp>
      <p:sp>
        <p:nvSpPr>
          <p:cNvPr id="51" name="Text 48"/>
          <p:cNvSpPr/>
          <p:nvPr/>
        </p:nvSpPr>
        <p:spPr>
          <a:xfrm>
            <a:off x="812800" y="4378950"/>
            <a:ext cx="1193800" cy="447675"/>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FFFBF5"/>
                </a:solidFill>
                <a:latin typeface="Nunito Sans" pitchFamily="34" charset="0"/>
                <a:ea typeface="Arial" pitchFamily="34" charset="-122"/>
                <a:cs typeface="Arial" pitchFamily="34" charset="-120"/>
              </a:rPr>
              <a:t>VILLAGE</a:t>
            </a:r>
            <a:endParaRPr lang="en-US" sz="1200" dirty="0"/>
          </a:p>
        </p:txBody>
      </p:sp>
      <p:sp>
        <p:nvSpPr>
          <p:cNvPr id="52" name="Shape 49"/>
          <p:cNvSpPr/>
          <p:nvPr/>
        </p:nvSpPr>
        <p:spPr>
          <a:xfrm>
            <a:off x="1981200" y="4328150"/>
            <a:ext cx="3352800" cy="523875"/>
          </a:xfrm>
          <a:prstGeom prst="rect">
            <a:avLst/>
          </a:prstGeom>
          <a:solidFill>
            <a:srgbClr val="FFFBF5"/>
          </a:solidFill>
          <a:ln/>
        </p:spPr>
        <p:txBody>
          <a:bodyPr/>
          <a:p/>
        </p:txBody>
      </p:sp>
      <p:sp>
        <p:nvSpPr>
          <p:cNvPr id="53" name="Text 50"/>
          <p:cNvSpPr/>
          <p:nvPr/>
        </p:nvSpPr>
        <p:spPr>
          <a:xfrm>
            <a:off x="2133600" y="4378950"/>
            <a:ext cx="3139440"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4F6B3A"/>
                </a:solidFill>
                <a:latin typeface="Nunito Sans" pitchFamily="34" charset="0"/>
                <a:ea typeface="Arial" pitchFamily="34" charset="-122"/>
                <a:cs typeface="Arial" pitchFamily="34" charset="-120"/>
              </a:rPr>
              <a:t>Trainer</a:t>
            </a:r>
            <a:endParaRPr lang="en-US" sz="1500" dirty="0"/>
          </a:p>
        </p:txBody>
      </p:sp>
      <p:sp>
        <p:nvSpPr>
          <p:cNvPr id="54" name="Text 51"/>
          <p:cNvSpPr/>
          <p:nvPr/>
        </p:nvSpPr>
        <p:spPr>
          <a:xfrm>
            <a:off x="2133600" y="4610725"/>
            <a:ext cx="31394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5"/>
                </a:solidFill>
                <a:latin typeface="Nunito Sans" pitchFamily="34" charset="0"/>
                <a:ea typeface="Arial" pitchFamily="34" charset="-122"/>
                <a:cs typeface="Arial" pitchFamily="34" charset="-120"/>
              </a:rPr>
              <a:t>From the BDS partner; on paper</a:t>
            </a:r>
            <a:endParaRPr lang="en-US" sz="1200" dirty="0"/>
          </a:p>
        </p:txBody>
      </p:sp>
      <p:sp>
        <p:nvSpPr>
          <p:cNvPr id="55" name="Shape 52"/>
          <p:cNvSpPr/>
          <p:nvPr/>
        </p:nvSpPr>
        <p:spPr>
          <a:xfrm>
            <a:off x="5334000" y="4328150"/>
            <a:ext cx="2667000" cy="523875"/>
          </a:xfrm>
          <a:prstGeom prst="rect">
            <a:avLst/>
          </a:prstGeom>
          <a:solidFill>
            <a:srgbClr val="4F6B3A"/>
          </a:solidFill>
          <a:ln/>
        </p:spPr>
        <p:txBody>
          <a:bodyPr/>
          <a:p/>
        </p:txBody>
      </p:sp>
      <p:sp>
        <p:nvSpPr>
          <p:cNvPr id="56" name="Text 53"/>
          <p:cNvSpPr/>
          <p:nvPr/>
        </p:nvSpPr>
        <p:spPr>
          <a:xfrm>
            <a:off x="5411724" y="4378950"/>
            <a:ext cx="2511552" cy="447675"/>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FFFBF5"/>
                </a:solidFill>
                <a:latin typeface="Nunito Sans" pitchFamily="34" charset="0"/>
                <a:ea typeface="Arial" pitchFamily="34" charset="-122"/>
                <a:cs typeface="Arial" pitchFamily="34" charset="-120"/>
              </a:rPr>
              <a:t>session delivered; two members sign</a:t>
            </a:r>
            <a:endParaRPr lang="en-US" sz="1200" dirty="0"/>
          </a:p>
        </p:txBody>
      </p:sp>
      <p:sp>
        <p:nvSpPr>
          <p:cNvPr id="57" name="Shape 54"/>
          <p:cNvSpPr/>
          <p:nvPr/>
        </p:nvSpPr>
        <p:spPr>
          <a:xfrm>
            <a:off x="8001000" y="4328150"/>
            <a:ext cx="3352800" cy="523875"/>
          </a:xfrm>
          <a:prstGeom prst="rect">
            <a:avLst/>
          </a:prstGeom>
          <a:solidFill>
            <a:srgbClr val="FFFBF5"/>
          </a:solidFill>
          <a:ln/>
        </p:spPr>
        <p:txBody>
          <a:bodyPr/>
          <a:p/>
        </p:txBody>
      </p:sp>
      <p:sp>
        <p:nvSpPr>
          <p:cNvPr id="58" name="Text 55"/>
          <p:cNvSpPr/>
          <p:nvPr/>
        </p:nvSpPr>
        <p:spPr>
          <a:xfrm>
            <a:off x="8153400" y="4378950"/>
            <a:ext cx="3139440"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4F6B3A"/>
                </a:solidFill>
                <a:latin typeface="Nunito Sans" pitchFamily="34" charset="0"/>
                <a:ea typeface="Arial" pitchFamily="34" charset="-122"/>
                <a:cs typeface="Arial" pitchFamily="34" charset="-120"/>
              </a:rPr>
              <a:t>The group</a:t>
            </a:r>
            <a:endParaRPr lang="en-US" sz="1500" dirty="0"/>
          </a:p>
        </p:txBody>
      </p:sp>
      <p:sp>
        <p:nvSpPr>
          <p:cNvPr id="59" name="Text 56"/>
          <p:cNvSpPr/>
          <p:nvPr/>
        </p:nvSpPr>
        <p:spPr>
          <a:xfrm>
            <a:off x="8153400" y="4610725"/>
            <a:ext cx="31394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5"/>
                </a:solidFill>
                <a:latin typeface="Nunito Sans" pitchFamily="34" charset="0"/>
                <a:ea typeface="Arial" pitchFamily="34" charset="-122"/>
                <a:cs typeface="Arial" pitchFamily="34" charset="-120"/>
              </a:rPr>
              <a:t>Chair and secretary co-sign</a:t>
            </a:r>
            <a:endParaRPr lang="en-US" sz="1200" dirty="0"/>
          </a:p>
        </p:txBody>
      </p:sp>
      <p:sp>
        <p:nvSpPr>
          <p:cNvPr id="60" name="Shape 57"/>
          <p:cNvSpPr/>
          <p:nvPr/>
        </p:nvSpPr>
        <p:spPr>
          <a:xfrm>
            <a:off x="812800" y="4979025"/>
            <a:ext cx="10566400" cy="523180"/>
          </a:xfrm>
          <a:prstGeom prst="roundRect">
            <a:avLst>
              <a:gd name="adj" fmla="val 14565"/>
            </a:avLst>
          </a:prstGeom>
          <a:solidFill>
            <a:srgbClr val="F3E9DA"/>
          </a:solidFill>
          <a:ln/>
        </p:spPr>
        <p:txBody>
          <a:bodyPr/>
          <a:p/>
        </p:txBody>
      </p:sp>
      <p:sp>
        <p:nvSpPr>
          <p:cNvPr id="61" name="Shape 58"/>
          <p:cNvSpPr/>
          <p:nvPr/>
        </p:nvSpPr>
        <p:spPr>
          <a:xfrm>
            <a:off x="844550" y="4979025"/>
            <a:ext cx="0" cy="523180"/>
          </a:xfrm>
          <a:prstGeom prst="line">
            <a:avLst/>
          </a:prstGeom>
          <a:noFill/>
          <a:ln w="63500">
            <a:solidFill>
              <a:srgbClr val="B26A00"/>
            </a:solidFill>
            <a:prstDash val="solid"/>
          </a:ln>
        </p:spPr>
        <p:txBody>
          <a:bodyPr/>
          <a:p/>
        </p:txBody>
      </p:sp>
      <p:sp>
        <p:nvSpPr>
          <p:cNvPr id="62" name="Text 59"/>
          <p:cNvSpPr/>
          <p:nvPr/>
        </p:nvSpPr>
        <p:spPr>
          <a:xfrm>
            <a:off x="1028700" y="5133955"/>
            <a:ext cx="5334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26A00"/>
                </a:solidFill>
                <a:latin typeface="Nunito Sans" pitchFamily="34" charset="0"/>
                <a:ea typeface="Arial" pitchFamily="34" charset="-122"/>
                <a:cs typeface="Arial" pitchFamily="34" charset="-120"/>
              </a:rPr>
              <a:t>AREA</a:t>
            </a:r>
            <a:endParaRPr lang="en-US" sz="1200" dirty="0"/>
          </a:p>
        </p:txBody>
      </p:sp>
      <p:sp>
        <p:nvSpPr>
          <p:cNvPr id="63" name="Text 60"/>
          <p:cNvSpPr/>
          <p:nvPr/>
        </p:nvSpPr>
        <p:spPr>
          <a:xfrm>
            <a:off x="1638350" y="5042525"/>
            <a:ext cx="9876104"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2303D"/>
                </a:solidFill>
                <a:latin typeface="Nunito Sans" pitchFamily="34" charset="0"/>
                <a:ea typeface="Arial" pitchFamily="34" charset="-122"/>
                <a:cs typeface="Arial" pitchFamily="34" charset="-120"/>
              </a:rPr>
              <a:t>An area is made up, not on any map.</a:t>
            </a:r>
            <a:r>
              <a:rPr lang="en-US" sz="1200" dirty="0">
                <a:solidFill>
                  <a:srgbClr val="12303D"/>
                </a:solidFill>
                <a:latin typeface="Nunito Sans" pitchFamily="34" charset="0"/>
                <a:ea typeface="Arial" pitchFamily="34" charset="-122"/>
                <a:cs typeface="Arial" pitchFamily="34" charset="-120"/>
              </a:rPr>
              <a:t> It is a named subset of wards inside one district, which the coordinator draws and can redraw so that one person has a workable patch. Records stay by region, district and ward.</a:t>
            </a:r>
            <a:endParaRPr lang="en-US" sz="1200" dirty="0"/>
          </a:p>
        </p:txBody>
      </p:sp>
      <p:sp>
        <p:nvSpPr>
          <p:cNvPr id="64" name="Text 61"/>
          <p:cNvSpPr/>
          <p:nvPr/>
        </p:nvSpPr>
        <p:spPr>
          <a:xfrm>
            <a:off x="812800" y="6512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unito Sans" pitchFamily="34" charset="0"/>
                <a:ea typeface="Arial" pitchFamily="34" charset="-122"/>
                <a:cs typeface="Arial" pitchFamily="34" charset="-120"/>
              </a:rPr>
              <a:t>Not in the building: content authors and translators, who make what is taught, and an evaluator, who reads everything and changes nothing.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BF5"/>
        </a:solidFill>
      </p:bgPr>
    </p:bg>
    <p:spTree>
      <p:nvGrpSpPr>
        <p:cNvPr id="1" name=""/>
        <p:cNvGrpSpPr/>
        <p:nvPr/>
      </p:nvGrpSpPr>
      <p:grpSpPr>
        <a:xfrm>
          <a:off x="0" y="0"/>
          <a:ext cx="0" cy="0"/>
          <a:chOff x="0" y="0"/>
          <a:chExt cx="0" cy="0"/>
        </a:xfrm>
      </p:grpSpPr>
      <p:sp>
        <p:nvSpPr>
          <p:cNvPr id="2" name="Shape 0"/>
          <p:cNvSpPr/>
          <p:nvPr/>
        </p:nvSpPr>
        <p:spPr>
          <a:xfrm>
            <a:off x="812800" y="584200"/>
            <a:ext cx="762000" cy="50800"/>
          </a:xfrm>
          <a:prstGeom prst="roundRect">
            <a:avLst>
              <a:gd name="adj" fmla="val 50000"/>
            </a:avLst>
          </a:prstGeom>
          <a:solidFill>
            <a:srgbClr val="A84B25"/>
          </a:solidFill>
          <a:ln/>
        </p:spPr>
        <p:txBody>
          <a:bodyPr/>
          <a:p/>
        </p:txBody>
      </p:sp>
      <p:sp>
        <p:nvSpPr>
          <p:cNvPr id="3" name="Text 1"/>
          <p:cNvSpPr/>
          <p:nvPr/>
        </p:nvSpPr>
        <p:spPr>
          <a:xfrm>
            <a:off x="812800" y="8128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2303D"/>
                </a:solidFill>
                <a:latin typeface="Domine" pitchFamily="34" charset="0"/>
                <a:ea typeface="Georgia" pitchFamily="34" charset="-122"/>
                <a:cs typeface="Georgia" pitchFamily="34" charset="-120"/>
              </a:rPr>
              <a:t>Key roles: TAMISEMI vs BDS partner, before and after the operations handover</a:t>
            </a:r>
            <a:endParaRPr lang="en-US" sz="3200" dirty="0"/>
          </a:p>
        </p:txBody>
      </p:sp>
      <p:sp>
        <p:nvSpPr>
          <p:cNvPr id="4" name="Text 2"/>
          <p:cNvSpPr/>
          <p:nvPr/>
        </p:nvSpPr>
        <p:spPr>
          <a:xfrm>
            <a:off x="812800" y="1808460"/>
            <a:ext cx="10883392"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4A5565"/>
                </a:solidFill>
                <a:latin typeface="Nunito Sans" pitchFamily="34" charset="0"/>
                <a:ea typeface="Arial" pitchFamily="34" charset="-122"/>
                <a:cs typeface="Arial" pitchFamily="34" charset="-120"/>
              </a:rPr>
              <a:t>The assumption here is that the BDS provider is on the hook for training, although we might get things started out with consultant + TAMISEMI master trainers. The system therefore provides for a hand-over; the register of groups always stays with TAMISEMI's district officers.</a:t>
            </a:r>
            <a:endParaRPr lang="en-US" sz="1500" dirty="0"/>
          </a:p>
        </p:txBody>
      </p:sp>
      <p:sp>
        <p:nvSpPr>
          <p:cNvPr id="5" name="Shape 3"/>
          <p:cNvSpPr/>
          <p:nvPr/>
        </p:nvSpPr>
        <p:spPr>
          <a:xfrm>
            <a:off x="812800" y="2680990"/>
            <a:ext cx="4616450" cy="2885380"/>
          </a:xfrm>
          <a:prstGeom prst="roundRect">
            <a:avLst>
              <a:gd name="adj" fmla="val 5282"/>
            </a:avLst>
          </a:prstGeom>
          <a:solidFill>
            <a:srgbClr val="F3E9DA"/>
          </a:solidFill>
          <a:ln/>
        </p:spPr>
        <p:txBody>
          <a:bodyPr/>
          <a:p/>
        </p:txBody>
      </p:sp>
      <p:sp>
        <p:nvSpPr>
          <p:cNvPr id="6" name="Text 4"/>
          <p:cNvSpPr/>
          <p:nvPr/>
        </p:nvSpPr>
        <p:spPr>
          <a:xfrm>
            <a:off x="952500" y="2820690"/>
            <a:ext cx="446716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303D"/>
                </a:solidFill>
                <a:latin typeface="Domine" pitchFamily="34" charset="0"/>
                <a:ea typeface="Georgia" pitchFamily="34" charset="-122"/>
                <a:cs typeface="Georgia" pitchFamily="34" charset="-120"/>
              </a:rPr>
              <a:t>Before a handoff</a:t>
            </a:r>
            <a:endParaRPr lang="en-US" sz="2000" dirty="0"/>
          </a:p>
        </p:txBody>
      </p:sp>
      <p:sp>
        <p:nvSpPr>
          <p:cNvPr id="7" name="Shape 5"/>
          <p:cNvSpPr/>
          <p:nvPr/>
        </p:nvSpPr>
        <p:spPr>
          <a:xfrm>
            <a:off x="965200" y="3214390"/>
            <a:ext cx="2098675" cy="728960"/>
          </a:xfrm>
          <a:prstGeom prst="roundRect">
            <a:avLst>
              <a:gd name="adj" fmla="val 12195"/>
            </a:avLst>
          </a:prstGeom>
          <a:solidFill>
            <a:srgbClr val="12435A"/>
          </a:solidFill>
          <a:ln w="25400">
            <a:solidFill>
              <a:srgbClr val="12435A"/>
            </a:solidFill>
            <a:prstDash val="solid"/>
          </a:ln>
        </p:spPr>
        <p:txBody>
          <a:bodyPr/>
          <a:p/>
        </p:txBody>
      </p:sp>
      <p:sp>
        <p:nvSpPr>
          <p:cNvPr id="8" name="Text 6"/>
          <p:cNvSpPr/>
          <p:nvPr/>
        </p:nvSpPr>
        <p:spPr>
          <a:xfrm>
            <a:off x="1079500" y="3290590"/>
            <a:ext cx="1926177"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FFFBF5"/>
                </a:solidFill>
                <a:latin typeface="Nunito Sans" pitchFamily="34" charset="0"/>
                <a:ea typeface="Arial" pitchFamily="34" charset="-122"/>
                <a:cs typeface="Arial" pitchFamily="34" charset="-120"/>
              </a:rPr>
              <a:t>Regional coordinator</a:t>
            </a:r>
            <a:endParaRPr lang="en-US" sz="1200" dirty="0"/>
          </a:p>
        </p:txBody>
      </p:sp>
      <p:sp>
        <p:nvSpPr>
          <p:cNvPr id="9" name="Text 7"/>
          <p:cNvSpPr/>
          <p:nvPr/>
        </p:nvSpPr>
        <p:spPr>
          <a:xfrm>
            <a:off x="1079500" y="3486150"/>
            <a:ext cx="1926177"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3E9DA"/>
                </a:solidFill>
                <a:latin typeface="Nunito Sans" pitchFamily="34" charset="0"/>
                <a:ea typeface="Arial" pitchFamily="34" charset="-122"/>
                <a:cs typeface="Arial" pitchFamily="34" charset="-120"/>
              </a:rPr>
              <a:t>confirms postings, oversees, covers</a:t>
            </a:r>
            <a:endParaRPr lang="en-US" sz="1200" dirty="0"/>
          </a:p>
        </p:txBody>
      </p:sp>
      <p:sp>
        <p:nvSpPr>
          <p:cNvPr id="10" name="Shape 8"/>
          <p:cNvSpPr/>
          <p:nvPr/>
        </p:nvSpPr>
        <p:spPr>
          <a:xfrm>
            <a:off x="3178175" y="3214390"/>
            <a:ext cx="2098675" cy="728960"/>
          </a:xfrm>
          <a:prstGeom prst="roundRect">
            <a:avLst>
              <a:gd name="adj" fmla="val 12195"/>
            </a:avLst>
          </a:prstGeom>
          <a:solidFill>
            <a:srgbClr val="A84B25"/>
          </a:solidFill>
          <a:ln w="25400">
            <a:solidFill>
              <a:srgbClr val="A84B25"/>
            </a:solidFill>
            <a:prstDash val="solid"/>
          </a:ln>
        </p:spPr>
        <p:txBody>
          <a:bodyPr/>
          <a:p/>
        </p:txBody>
      </p:sp>
      <p:sp>
        <p:nvSpPr>
          <p:cNvPr id="11" name="Text 9"/>
          <p:cNvSpPr/>
          <p:nvPr/>
        </p:nvSpPr>
        <p:spPr>
          <a:xfrm>
            <a:off x="3292475" y="3290590"/>
            <a:ext cx="1926177"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FFFBF5"/>
                </a:solidFill>
                <a:latin typeface="Nunito Sans" pitchFamily="34" charset="0"/>
                <a:ea typeface="Arial" pitchFamily="34" charset="-122"/>
                <a:cs typeface="Arial" pitchFamily="34" charset="-120"/>
              </a:rPr>
              <a:t>Partner regional lead</a:t>
            </a:r>
            <a:endParaRPr lang="en-US" sz="1200" dirty="0"/>
          </a:p>
        </p:txBody>
      </p:sp>
      <p:sp>
        <p:nvSpPr>
          <p:cNvPr id="12" name="Text 10"/>
          <p:cNvSpPr/>
          <p:nvPr/>
        </p:nvSpPr>
        <p:spPr>
          <a:xfrm>
            <a:off x="3292475" y="3486150"/>
            <a:ext cx="192617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3E9DA"/>
                </a:solidFill>
                <a:latin typeface="Nunito Sans" pitchFamily="34" charset="0"/>
                <a:ea typeface="Arial" pitchFamily="34" charset="-122"/>
                <a:cs typeface="Arial" pitchFamily="34" charset="-120"/>
              </a:rPr>
              <a:t>posts trainers</a:t>
            </a:r>
            <a:endParaRPr lang="en-US" sz="1200" dirty="0"/>
          </a:p>
        </p:txBody>
      </p:sp>
      <p:sp>
        <p:nvSpPr>
          <p:cNvPr id="13" name="Shape 11"/>
          <p:cNvSpPr/>
          <p:nvPr/>
        </p:nvSpPr>
        <p:spPr>
          <a:xfrm>
            <a:off x="965200" y="4044950"/>
            <a:ext cx="2098675" cy="728960"/>
          </a:xfrm>
          <a:prstGeom prst="roundRect">
            <a:avLst>
              <a:gd name="adj" fmla="val 12195"/>
            </a:avLst>
          </a:prstGeom>
          <a:solidFill>
            <a:srgbClr val="12435A"/>
          </a:solidFill>
          <a:ln w="25400">
            <a:solidFill>
              <a:srgbClr val="12435A"/>
            </a:solidFill>
            <a:prstDash val="solid"/>
          </a:ln>
        </p:spPr>
        <p:txBody>
          <a:bodyPr/>
          <a:p/>
        </p:txBody>
      </p:sp>
      <p:sp>
        <p:nvSpPr>
          <p:cNvPr id="14" name="Text 12"/>
          <p:cNvSpPr/>
          <p:nvPr/>
        </p:nvSpPr>
        <p:spPr>
          <a:xfrm>
            <a:off x="1079500" y="4121150"/>
            <a:ext cx="1926177"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FFFBF5"/>
                </a:solidFill>
                <a:latin typeface="Nunito Sans" pitchFamily="34" charset="0"/>
                <a:ea typeface="Arial" pitchFamily="34" charset="-122"/>
                <a:cs typeface="Arial" pitchFamily="34" charset="-120"/>
              </a:rPr>
              <a:t>District coordinator</a:t>
            </a:r>
            <a:endParaRPr lang="en-US" sz="1200" dirty="0"/>
          </a:p>
        </p:txBody>
      </p:sp>
      <p:sp>
        <p:nvSpPr>
          <p:cNvPr id="15" name="Text 13"/>
          <p:cNvSpPr/>
          <p:nvPr/>
        </p:nvSpPr>
        <p:spPr>
          <a:xfrm>
            <a:off x="1079500" y="4316710"/>
            <a:ext cx="1926177"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3E9DA"/>
                </a:solidFill>
                <a:latin typeface="Nunito Sans" pitchFamily="34" charset="0"/>
                <a:ea typeface="Arial" pitchFamily="34" charset="-122"/>
                <a:cs typeface="Arial" pitchFamily="34" charset="-120"/>
              </a:rPr>
              <a:t>runs training, draws the areas</a:t>
            </a:r>
            <a:endParaRPr lang="en-US" sz="1200" dirty="0"/>
          </a:p>
        </p:txBody>
      </p:sp>
      <p:sp>
        <p:nvSpPr>
          <p:cNvPr id="16" name="Shape 14"/>
          <p:cNvSpPr/>
          <p:nvPr/>
        </p:nvSpPr>
        <p:spPr>
          <a:xfrm>
            <a:off x="3178175" y="4044950"/>
            <a:ext cx="2098675" cy="728960"/>
          </a:xfrm>
          <a:prstGeom prst="roundRect">
            <a:avLst>
              <a:gd name="adj" fmla="val 12195"/>
            </a:avLst>
          </a:prstGeom>
          <a:solidFill>
            <a:srgbClr val="F3E9DA"/>
          </a:solidFill>
          <a:ln w="25400">
            <a:solidFill>
              <a:srgbClr val="C9BBA3"/>
            </a:solidFill>
            <a:prstDash val="sysDot"/>
          </a:ln>
        </p:spPr>
        <p:txBody>
          <a:bodyPr/>
          <a:p/>
        </p:txBody>
      </p:sp>
      <p:sp>
        <p:nvSpPr>
          <p:cNvPr id="17" name="Text 15"/>
          <p:cNvSpPr/>
          <p:nvPr/>
        </p:nvSpPr>
        <p:spPr>
          <a:xfrm>
            <a:off x="3292475" y="4121150"/>
            <a:ext cx="1926177"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4A5565"/>
                </a:solidFill>
                <a:latin typeface="Nunito Sans" pitchFamily="34" charset="0"/>
                <a:ea typeface="Arial" pitchFamily="34" charset="-122"/>
                <a:cs typeface="Arial" pitchFamily="34" charset="-120"/>
              </a:rPr>
              <a:t>No counterpart yet</a:t>
            </a:r>
            <a:endParaRPr lang="en-US" sz="1200" dirty="0"/>
          </a:p>
        </p:txBody>
      </p:sp>
      <p:sp>
        <p:nvSpPr>
          <p:cNvPr id="18" name="Shape 16"/>
          <p:cNvSpPr/>
          <p:nvPr/>
        </p:nvSpPr>
        <p:spPr>
          <a:xfrm>
            <a:off x="965200" y="4875510"/>
            <a:ext cx="2098675" cy="538460"/>
          </a:xfrm>
          <a:prstGeom prst="roundRect">
            <a:avLst>
              <a:gd name="adj" fmla="val 16510"/>
            </a:avLst>
          </a:prstGeom>
          <a:solidFill>
            <a:srgbClr val="12435A"/>
          </a:solidFill>
          <a:ln w="25400">
            <a:solidFill>
              <a:srgbClr val="12435A"/>
            </a:solidFill>
            <a:prstDash val="solid"/>
          </a:ln>
        </p:spPr>
        <p:txBody>
          <a:bodyPr/>
          <a:p/>
        </p:txBody>
      </p:sp>
      <p:sp>
        <p:nvSpPr>
          <p:cNvPr id="19" name="Text 17"/>
          <p:cNvSpPr/>
          <p:nvPr/>
        </p:nvSpPr>
        <p:spPr>
          <a:xfrm>
            <a:off x="1079500" y="4951710"/>
            <a:ext cx="1926177"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FFFBF5"/>
                </a:solidFill>
                <a:latin typeface="Nunito Sans" pitchFamily="34" charset="0"/>
                <a:ea typeface="Arial" pitchFamily="34" charset="-122"/>
                <a:cs typeface="Arial" pitchFamily="34" charset="-120"/>
              </a:rPr>
              <a:t>Area coordinator</a:t>
            </a:r>
            <a:endParaRPr lang="en-US" sz="1200" dirty="0"/>
          </a:p>
        </p:txBody>
      </p:sp>
      <p:sp>
        <p:nvSpPr>
          <p:cNvPr id="20" name="Text 18"/>
          <p:cNvSpPr/>
          <p:nvPr/>
        </p:nvSpPr>
        <p:spPr>
          <a:xfrm>
            <a:off x="1079500" y="5147270"/>
            <a:ext cx="192617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3E9DA"/>
                </a:solidFill>
                <a:latin typeface="Nunito Sans" pitchFamily="34" charset="0"/>
                <a:ea typeface="Arial" pitchFamily="34" charset="-122"/>
                <a:cs typeface="Arial" pitchFamily="34" charset="-120"/>
              </a:rPr>
              <a:t>plans, schedules, accepts</a:t>
            </a:r>
            <a:endParaRPr lang="en-US" sz="1200" dirty="0"/>
          </a:p>
        </p:txBody>
      </p:sp>
      <p:sp>
        <p:nvSpPr>
          <p:cNvPr id="21" name="Shape 19"/>
          <p:cNvSpPr/>
          <p:nvPr/>
        </p:nvSpPr>
        <p:spPr>
          <a:xfrm>
            <a:off x="3178175" y="4875510"/>
            <a:ext cx="2098675" cy="538460"/>
          </a:xfrm>
          <a:prstGeom prst="roundRect">
            <a:avLst>
              <a:gd name="adj" fmla="val 16510"/>
            </a:avLst>
          </a:prstGeom>
          <a:solidFill>
            <a:srgbClr val="FFFBF5"/>
          </a:solidFill>
          <a:ln w="25400">
            <a:solidFill>
              <a:srgbClr val="A84B25"/>
            </a:solidFill>
            <a:prstDash val="dash"/>
          </a:ln>
        </p:spPr>
        <p:txBody>
          <a:bodyPr/>
          <a:p/>
        </p:txBody>
      </p:sp>
      <p:sp>
        <p:nvSpPr>
          <p:cNvPr id="22" name="Text 20"/>
          <p:cNvSpPr/>
          <p:nvPr/>
        </p:nvSpPr>
        <p:spPr>
          <a:xfrm>
            <a:off x="3292475" y="4951710"/>
            <a:ext cx="1926177"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A84B25"/>
                </a:solidFill>
                <a:latin typeface="Nunito Sans" pitchFamily="34" charset="0"/>
                <a:ea typeface="Arial" pitchFamily="34" charset="-122"/>
                <a:cs typeface="Arial" pitchFamily="34" charset="-120"/>
              </a:rPr>
              <a:t>Partner area coordinator</a:t>
            </a:r>
            <a:endParaRPr lang="en-US" sz="1200" dirty="0"/>
          </a:p>
        </p:txBody>
      </p:sp>
      <p:sp>
        <p:nvSpPr>
          <p:cNvPr id="23" name="Text 21"/>
          <p:cNvSpPr/>
          <p:nvPr/>
        </p:nvSpPr>
        <p:spPr>
          <a:xfrm>
            <a:off x="3292475" y="5147270"/>
            <a:ext cx="192617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5"/>
                </a:solidFill>
                <a:latin typeface="Nunito Sans" pitchFamily="34" charset="0"/>
                <a:ea typeface="Arial" pitchFamily="34" charset="-122"/>
                <a:cs typeface="Arial" pitchFamily="34" charset="-120"/>
              </a:rPr>
              <a:t>reads only</a:t>
            </a:r>
            <a:endParaRPr lang="en-US" sz="1200" dirty="0"/>
          </a:p>
        </p:txBody>
      </p:sp>
      <p:sp>
        <p:nvSpPr>
          <p:cNvPr id="24" name="Text 22"/>
          <p:cNvSpPr/>
          <p:nvPr/>
        </p:nvSpPr>
        <p:spPr>
          <a:xfrm>
            <a:off x="5698083" y="3750320"/>
            <a:ext cx="795784"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26A00"/>
                </a:solidFill>
                <a:latin typeface="Nunito Sans" pitchFamily="34" charset="0"/>
                <a:ea typeface="Arial" pitchFamily="34" charset="-122"/>
                <a:cs typeface="Arial" pitchFamily="34" charset="-120"/>
              </a:rPr>
              <a:t>HANDOFF</a:t>
            </a:r>
            <a:endParaRPr lang="en-US" sz="1200" dirty="0"/>
          </a:p>
        </p:txBody>
      </p:sp>
      <p:pic>
        <p:nvPicPr>
          <p:cNvPr id="25" name="Image 0" descr="connector">    </p:cNvPr>
          <p:cNvPicPr>
            <a:picLocks noChangeAspect="1"/>
          </p:cNvPicPr>
          <p:nvPr/>
        </p:nvPicPr>
        <p:blipFill>
          <a:blip r:embed="rId1"/>
          <a:srcRect l="0" r="0" t="0" b="0"/>
          <a:stretch/>
        </p:blipFill>
        <p:spPr>
          <a:xfrm>
            <a:off x="5511800" y="3919190"/>
            <a:ext cx="1168400" cy="241300"/>
          </a:xfrm>
          <a:prstGeom prst="rect">
            <a:avLst/>
          </a:prstGeom>
        </p:spPr>
      </p:pic>
      <p:sp>
        <p:nvSpPr>
          <p:cNvPr id="26" name="Text 23"/>
          <p:cNvSpPr/>
          <p:nvPr/>
        </p:nvSpPr>
        <p:spPr>
          <a:xfrm>
            <a:off x="5530850" y="4116040"/>
            <a:ext cx="11303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A5565"/>
                </a:solidFill>
                <a:latin typeface="Nunito Sans" pitchFamily="34" charset="0"/>
                <a:ea typeface="Arial" pitchFamily="34" charset="-122"/>
                <a:cs typeface="Arial" pitchFamily="34" charset="-120"/>
              </a:rPr>
              <a:t>one area at a time</a:t>
            </a:r>
            <a:endParaRPr lang="en-US" sz="1200" dirty="0"/>
          </a:p>
        </p:txBody>
      </p:sp>
      <p:sp>
        <p:nvSpPr>
          <p:cNvPr id="27" name="Shape 24"/>
          <p:cNvSpPr/>
          <p:nvPr/>
        </p:nvSpPr>
        <p:spPr>
          <a:xfrm>
            <a:off x="6762750" y="2776240"/>
            <a:ext cx="4616450" cy="2694880"/>
          </a:xfrm>
          <a:prstGeom prst="roundRect">
            <a:avLst>
              <a:gd name="adj" fmla="val 5655"/>
            </a:avLst>
          </a:prstGeom>
          <a:solidFill>
            <a:srgbClr val="F3E9DA"/>
          </a:solidFill>
          <a:ln/>
        </p:spPr>
        <p:txBody>
          <a:bodyPr/>
          <a:p/>
        </p:txBody>
      </p:sp>
      <p:sp>
        <p:nvSpPr>
          <p:cNvPr id="28" name="Text 25"/>
          <p:cNvSpPr/>
          <p:nvPr/>
        </p:nvSpPr>
        <p:spPr>
          <a:xfrm>
            <a:off x="6902450" y="2915940"/>
            <a:ext cx="446716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303D"/>
                </a:solidFill>
                <a:latin typeface="Domine" pitchFamily="34" charset="0"/>
                <a:ea typeface="Georgia" pitchFamily="34" charset="-122"/>
                <a:cs typeface="Georgia" pitchFamily="34" charset="-120"/>
              </a:rPr>
              <a:t>After a handoff</a:t>
            </a:r>
            <a:endParaRPr lang="en-US" sz="2000" dirty="0"/>
          </a:p>
        </p:txBody>
      </p:sp>
      <p:sp>
        <p:nvSpPr>
          <p:cNvPr id="29" name="Shape 26"/>
          <p:cNvSpPr/>
          <p:nvPr/>
        </p:nvSpPr>
        <p:spPr>
          <a:xfrm>
            <a:off x="6915150" y="3309640"/>
            <a:ext cx="2098675" cy="538460"/>
          </a:xfrm>
          <a:prstGeom prst="roundRect">
            <a:avLst>
              <a:gd name="adj" fmla="val 16510"/>
            </a:avLst>
          </a:prstGeom>
          <a:solidFill>
            <a:srgbClr val="FFFBF5"/>
          </a:solidFill>
          <a:ln w="25400">
            <a:solidFill>
              <a:srgbClr val="B26A00"/>
            </a:solidFill>
            <a:prstDash val="solid"/>
          </a:ln>
        </p:spPr>
        <p:txBody>
          <a:bodyPr/>
          <a:p/>
        </p:txBody>
      </p:sp>
      <p:sp>
        <p:nvSpPr>
          <p:cNvPr id="30" name="Text 27"/>
          <p:cNvSpPr/>
          <p:nvPr/>
        </p:nvSpPr>
        <p:spPr>
          <a:xfrm>
            <a:off x="7029450" y="3385840"/>
            <a:ext cx="1926177"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B26A00"/>
                </a:solidFill>
                <a:latin typeface="Nunito Sans" pitchFamily="34" charset="0"/>
                <a:ea typeface="Arial" pitchFamily="34" charset="-122"/>
                <a:cs typeface="Arial" pitchFamily="34" charset="-120"/>
              </a:rPr>
              <a:t>Regional coordinator</a:t>
            </a:r>
            <a:endParaRPr lang="en-US" sz="1200" dirty="0"/>
          </a:p>
        </p:txBody>
      </p:sp>
      <p:sp>
        <p:nvSpPr>
          <p:cNvPr id="31" name="Text 28"/>
          <p:cNvSpPr/>
          <p:nvPr/>
        </p:nvSpPr>
        <p:spPr>
          <a:xfrm>
            <a:off x="7029450" y="3581400"/>
            <a:ext cx="192617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5"/>
                </a:solidFill>
                <a:latin typeface="Nunito Sans" pitchFamily="34" charset="0"/>
                <a:ea typeface="Arial" pitchFamily="34" charset="-122"/>
                <a:cs typeface="Arial" pitchFamily="34" charset="-120"/>
              </a:rPr>
              <a:t>samples 1 report in 20</a:t>
            </a:r>
            <a:endParaRPr lang="en-US" sz="1200" dirty="0"/>
          </a:p>
        </p:txBody>
      </p:sp>
      <p:sp>
        <p:nvSpPr>
          <p:cNvPr id="32" name="Shape 29"/>
          <p:cNvSpPr/>
          <p:nvPr/>
        </p:nvSpPr>
        <p:spPr>
          <a:xfrm>
            <a:off x="9128125" y="3309640"/>
            <a:ext cx="2098675" cy="538460"/>
          </a:xfrm>
          <a:prstGeom prst="roundRect">
            <a:avLst>
              <a:gd name="adj" fmla="val 16510"/>
            </a:avLst>
          </a:prstGeom>
          <a:solidFill>
            <a:srgbClr val="A84B25"/>
          </a:solidFill>
          <a:ln w="25400">
            <a:solidFill>
              <a:srgbClr val="A84B25"/>
            </a:solidFill>
            <a:prstDash val="solid"/>
          </a:ln>
        </p:spPr>
        <p:txBody>
          <a:bodyPr/>
          <a:p/>
        </p:txBody>
      </p:sp>
      <p:sp>
        <p:nvSpPr>
          <p:cNvPr id="33" name="Text 30"/>
          <p:cNvSpPr/>
          <p:nvPr/>
        </p:nvSpPr>
        <p:spPr>
          <a:xfrm>
            <a:off x="9242425" y="3385840"/>
            <a:ext cx="1926177"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FFFBF5"/>
                </a:solidFill>
                <a:latin typeface="Nunito Sans" pitchFamily="34" charset="0"/>
                <a:ea typeface="Arial" pitchFamily="34" charset="-122"/>
                <a:cs typeface="Arial" pitchFamily="34" charset="-120"/>
              </a:rPr>
              <a:t>Partner regional lead</a:t>
            </a:r>
            <a:endParaRPr lang="en-US" sz="1200" dirty="0"/>
          </a:p>
        </p:txBody>
      </p:sp>
      <p:sp>
        <p:nvSpPr>
          <p:cNvPr id="34" name="Text 31"/>
          <p:cNvSpPr/>
          <p:nvPr/>
        </p:nvSpPr>
        <p:spPr>
          <a:xfrm>
            <a:off x="9242425" y="3581400"/>
            <a:ext cx="192617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3E9DA"/>
                </a:solidFill>
                <a:latin typeface="Nunito Sans" pitchFamily="34" charset="0"/>
                <a:ea typeface="Arial" pitchFamily="34" charset="-122"/>
                <a:cs typeface="Arial" pitchFamily="34" charset="-120"/>
              </a:rPr>
              <a:t>posts trainers, covers</a:t>
            </a:r>
            <a:endParaRPr lang="en-US" sz="1200" dirty="0"/>
          </a:p>
        </p:txBody>
      </p:sp>
      <p:sp>
        <p:nvSpPr>
          <p:cNvPr id="35" name="Shape 32"/>
          <p:cNvSpPr/>
          <p:nvPr/>
        </p:nvSpPr>
        <p:spPr>
          <a:xfrm>
            <a:off x="6915150" y="3949700"/>
            <a:ext cx="2098675" cy="728960"/>
          </a:xfrm>
          <a:prstGeom prst="roundRect">
            <a:avLst>
              <a:gd name="adj" fmla="val 12195"/>
            </a:avLst>
          </a:prstGeom>
          <a:solidFill>
            <a:srgbClr val="12435A"/>
          </a:solidFill>
          <a:ln w="25400">
            <a:solidFill>
              <a:srgbClr val="12435A"/>
            </a:solidFill>
            <a:prstDash val="solid"/>
          </a:ln>
        </p:spPr>
        <p:txBody>
          <a:bodyPr/>
          <a:p/>
        </p:txBody>
      </p:sp>
      <p:sp>
        <p:nvSpPr>
          <p:cNvPr id="36" name="Text 33"/>
          <p:cNvSpPr/>
          <p:nvPr/>
        </p:nvSpPr>
        <p:spPr>
          <a:xfrm>
            <a:off x="7029450" y="4025900"/>
            <a:ext cx="1926177"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FFFBF5"/>
                </a:solidFill>
                <a:latin typeface="Nunito Sans" pitchFamily="34" charset="0"/>
                <a:ea typeface="Arial" pitchFamily="34" charset="-122"/>
                <a:cs typeface="Arial" pitchFamily="34" charset="-120"/>
              </a:rPr>
              <a:t>District coordinator</a:t>
            </a:r>
            <a:endParaRPr lang="en-US" sz="1200" dirty="0"/>
          </a:p>
        </p:txBody>
      </p:sp>
      <p:sp>
        <p:nvSpPr>
          <p:cNvPr id="37" name="Text 34"/>
          <p:cNvSpPr/>
          <p:nvPr/>
        </p:nvSpPr>
        <p:spPr>
          <a:xfrm>
            <a:off x="7029450" y="4221460"/>
            <a:ext cx="1926177"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3E9DA"/>
                </a:solidFill>
                <a:latin typeface="Nunito Sans" pitchFamily="34" charset="0"/>
                <a:ea typeface="Arial" pitchFamily="34" charset="-122"/>
                <a:cs typeface="Arial" pitchFamily="34" charset="-120"/>
              </a:rPr>
              <a:t>carries on in the rest of the district</a:t>
            </a:r>
            <a:endParaRPr lang="en-US" sz="1200" dirty="0"/>
          </a:p>
        </p:txBody>
      </p:sp>
      <p:sp>
        <p:nvSpPr>
          <p:cNvPr id="38" name="Shape 35"/>
          <p:cNvSpPr/>
          <p:nvPr/>
        </p:nvSpPr>
        <p:spPr>
          <a:xfrm>
            <a:off x="9128125" y="3949700"/>
            <a:ext cx="2098675" cy="728960"/>
          </a:xfrm>
          <a:prstGeom prst="roundRect">
            <a:avLst>
              <a:gd name="adj" fmla="val 12195"/>
            </a:avLst>
          </a:prstGeom>
          <a:solidFill>
            <a:srgbClr val="F3E9DA"/>
          </a:solidFill>
          <a:ln w="25400">
            <a:solidFill>
              <a:srgbClr val="C9BBA3"/>
            </a:solidFill>
            <a:prstDash val="sysDot"/>
          </a:ln>
        </p:spPr>
        <p:txBody>
          <a:bodyPr/>
          <a:p/>
        </p:txBody>
      </p:sp>
      <p:sp>
        <p:nvSpPr>
          <p:cNvPr id="39" name="Text 36"/>
          <p:cNvSpPr/>
          <p:nvPr/>
        </p:nvSpPr>
        <p:spPr>
          <a:xfrm>
            <a:off x="9242425" y="4025900"/>
            <a:ext cx="1926177"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4A5565"/>
                </a:solidFill>
                <a:latin typeface="Nunito Sans" pitchFamily="34" charset="0"/>
                <a:ea typeface="Arial" pitchFamily="34" charset="-122"/>
                <a:cs typeface="Arial" pitchFamily="34" charset="-120"/>
              </a:rPr>
              <a:t>No counterpart yet</a:t>
            </a:r>
            <a:endParaRPr lang="en-US" sz="1200" dirty="0"/>
          </a:p>
        </p:txBody>
      </p:sp>
      <p:sp>
        <p:nvSpPr>
          <p:cNvPr id="40" name="Shape 37"/>
          <p:cNvSpPr/>
          <p:nvPr/>
        </p:nvSpPr>
        <p:spPr>
          <a:xfrm>
            <a:off x="6915150" y="4780260"/>
            <a:ext cx="2098675" cy="538460"/>
          </a:xfrm>
          <a:prstGeom prst="roundRect">
            <a:avLst>
              <a:gd name="adj" fmla="val 16510"/>
            </a:avLst>
          </a:prstGeom>
          <a:solidFill>
            <a:srgbClr val="FFFBF5"/>
          </a:solidFill>
          <a:ln w="25400">
            <a:solidFill>
              <a:srgbClr val="12435A"/>
            </a:solidFill>
            <a:prstDash val="dash"/>
          </a:ln>
        </p:spPr>
        <p:txBody>
          <a:bodyPr/>
          <a:p/>
        </p:txBody>
      </p:sp>
      <p:sp>
        <p:nvSpPr>
          <p:cNvPr id="41" name="Text 38"/>
          <p:cNvSpPr/>
          <p:nvPr/>
        </p:nvSpPr>
        <p:spPr>
          <a:xfrm>
            <a:off x="7029450" y="4856460"/>
            <a:ext cx="1926177"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2435A"/>
                </a:solidFill>
                <a:latin typeface="Nunito Sans" pitchFamily="34" charset="0"/>
                <a:ea typeface="Arial" pitchFamily="34" charset="-122"/>
                <a:cs typeface="Arial" pitchFamily="34" charset="-120"/>
              </a:rPr>
              <a:t>Area coordinator</a:t>
            </a:r>
            <a:endParaRPr lang="en-US" sz="1200" dirty="0"/>
          </a:p>
        </p:txBody>
      </p:sp>
      <p:sp>
        <p:nvSpPr>
          <p:cNvPr id="42" name="Text 39"/>
          <p:cNvSpPr/>
          <p:nvPr/>
        </p:nvSpPr>
        <p:spPr>
          <a:xfrm>
            <a:off x="7029450" y="5052020"/>
            <a:ext cx="192617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5"/>
                </a:solidFill>
                <a:latin typeface="Nunito Sans" pitchFamily="34" charset="0"/>
                <a:ea typeface="Arial" pitchFamily="34" charset="-122"/>
                <a:cs typeface="Arial" pitchFamily="34" charset="-120"/>
              </a:rPr>
              <a:t>reads only</a:t>
            </a:r>
            <a:endParaRPr lang="en-US" sz="1200" dirty="0"/>
          </a:p>
        </p:txBody>
      </p:sp>
      <p:sp>
        <p:nvSpPr>
          <p:cNvPr id="43" name="Shape 40"/>
          <p:cNvSpPr/>
          <p:nvPr/>
        </p:nvSpPr>
        <p:spPr>
          <a:xfrm>
            <a:off x="9128125" y="4780260"/>
            <a:ext cx="2098675" cy="538460"/>
          </a:xfrm>
          <a:prstGeom prst="roundRect">
            <a:avLst>
              <a:gd name="adj" fmla="val 16510"/>
            </a:avLst>
          </a:prstGeom>
          <a:solidFill>
            <a:srgbClr val="A84B25"/>
          </a:solidFill>
          <a:ln w="25400">
            <a:solidFill>
              <a:srgbClr val="A84B25"/>
            </a:solidFill>
            <a:prstDash val="solid"/>
          </a:ln>
        </p:spPr>
        <p:txBody>
          <a:bodyPr/>
          <a:p/>
        </p:txBody>
      </p:sp>
      <p:sp>
        <p:nvSpPr>
          <p:cNvPr id="44" name="Text 41"/>
          <p:cNvSpPr/>
          <p:nvPr/>
        </p:nvSpPr>
        <p:spPr>
          <a:xfrm>
            <a:off x="9242425" y="4856460"/>
            <a:ext cx="1926177"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FFFBF5"/>
                </a:solidFill>
                <a:latin typeface="Nunito Sans" pitchFamily="34" charset="0"/>
                <a:ea typeface="Arial" pitchFamily="34" charset="-122"/>
                <a:cs typeface="Arial" pitchFamily="34" charset="-120"/>
              </a:rPr>
              <a:t>Partner area coordinator</a:t>
            </a:r>
            <a:endParaRPr lang="en-US" sz="1200" dirty="0"/>
          </a:p>
        </p:txBody>
      </p:sp>
      <p:sp>
        <p:nvSpPr>
          <p:cNvPr id="45" name="Text 42"/>
          <p:cNvSpPr/>
          <p:nvPr/>
        </p:nvSpPr>
        <p:spPr>
          <a:xfrm>
            <a:off x="9242425" y="5052020"/>
            <a:ext cx="192617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3E9DA"/>
                </a:solidFill>
                <a:latin typeface="Nunito Sans" pitchFamily="34" charset="0"/>
                <a:ea typeface="Arial" pitchFamily="34" charset="-122"/>
                <a:cs typeface="Arial" pitchFamily="34" charset="-120"/>
              </a:rPr>
              <a:t>plans, schedules, accepts</a:t>
            </a:r>
            <a:endParaRPr lang="en-US" sz="1200" dirty="0"/>
          </a:p>
        </p:txBody>
      </p:sp>
      <p:sp>
        <p:nvSpPr>
          <p:cNvPr id="46" name="Shape 43"/>
          <p:cNvSpPr/>
          <p:nvPr/>
        </p:nvSpPr>
        <p:spPr>
          <a:xfrm>
            <a:off x="812800" y="6275090"/>
            <a:ext cx="304800" cy="190500"/>
          </a:xfrm>
          <a:prstGeom prst="roundRect">
            <a:avLst>
              <a:gd name="adj" fmla="val 26667"/>
            </a:avLst>
          </a:prstGeom>
          <a:solidFill>
            <a:srgbClr val="12435A"/>
          </a:solidFill>
          <a:ln/>
        </p:spPr>
        <p:txBody>
          <a:bodyPr/>
          <a:p/>
        </p:txBody>
      </p:sp>
      <p:sp>
        <p:nvSpPr>
          <p:cNvPr id="47" name="Text 44"/>
          <p:cNvSpPr/>
          <p:nvPr/>
        </p:nvSpPr>
        <p:spPr>
          <a:xfrm>
            <a:off x="1193800" y="6263680"/>
            <a:ext cx="7761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303D"/>
                </a:solidFill>
                <a:latin typeface="Nunito Sans" pitchFamily="34" charset="0"/>
                <a:ea typeface="Arial" pitchFamily="34" charset="-122"/>
                <a:cs typeface="Arial" pitchFamily="34" charset="-120"/>
              </a:rPr>
              <a:t>TAMISEMI</a:t>
            </a:r>
            <a:endParaRPr lang="en-US" sz="1200" dirty="0"/>
          </a:p>
        </p:txBody>
      </p:sp>
      <p:sp>
        <p:nvSpPr>
          <p:cNvPr id="48" name="Shape 45"/>
          <p:cNvSpPr/>
          <p:nvPr/>
        </p:nvSpPr>
        <p:spPr>
          <a:xfrm>
            <a:off x="2198539" y="6275090"/>
            <a:ext cx="304800" cy="190500"/>
          </a:xfrm>
          <a:prstGeom prst="roundRect">
            <a:avLst>
              <a:gd name="adj" fmla="val 26667"/>
            </a:avLst>
          </a:prstGeom>
          <a:solidFill>
            <a:srgbClr val="A84B25"/>
          </a:solidFill>
          <a:ln/>
        </p:spPr>
        <p:txBody>
          <a:bodyPr/>
          <a:p/>
        </p:txBody>
      </p:sp>
      <p:sp>
        <p:nvSpPr>
          <p:cNvPr id="49" name="Text 46"/>
          <p:cNvSpPr/>
          <p:nvPr/>
        </p:nvSpPr>
        <p:spPr>
          <a:xfrm>
            <a:off x="2579539" y="6263680"/>
            <a:ext cx="8893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303D"/>
                </a:solidFill>
                <a:latin typeface="Nunito Sans" pitchFamily="34" charset="0"/>
                <a:ea typeface="Arial" pitchFamily="34" charset="-122"/>
                <a:cs typeface="Arial" pitchFamily="34" charset="-120"/>
              </a:rPr>
              <a:t>BDS partner</a:t>
            </a:r>
            <a:endParaRPr lang="en-US" sz="1200" dirty="0"/>
          </a:p>
        </p:txBody>
      </p:sp>
      <p:sp>
        <p:nvSpPr>
          <p:cNvPr id="50" name="Shape 47"/>
          <p:cNvSpPr/>
          <p:nvPr/>
        </p:nvSpPr>
        <p:spPr>
          <a:xfrm>
            <a:off x="3697536" y="6275090"/>
            <a:ext cx="12700" cy="190500"/>
          </a:xfrm>
          <a:prstGeom prst="rect">
            <a:avLst/>
          </a:prstGeom>
          <a:solidFill>
            <a:srgbClr val="D9CDB8"/>
          </a:solidFill>
          <a:ln/>
        </p:spPr>
        <p:txBody>
          <a:bodyPr/>
          <a:p/>
        </p:txBody>
      </p:sp>
      <p:sp>
        <p:nvSpPr>
          <p:cNvPr id="51" name="Shape 48"/>
          <p:cNvSpPr/>
          <p:nvPr/>
        </p:nvSpPr>
        <p:spPr>
          <a:xfrm>
            <a:off x="4002336" y="6287790"/>
            <a:ext cx="279400" cy="165100"/>
          </a:xfrm>
          <a:prstGeom prst="roundRect">
            <a:avLst>
              <a:gd name="adj" fmla="val 23077"/>
            </a:avLst>
          </a:prstGeom>
          <a:solidFill>
            <a:srgbClr val="4A5565"/>
          </a:solidFill>
          <a:ln w="25400">
            <a:solidFill>
              <a:srgbClr val="4A5565"/>
            </a:solidFill>
            <a:prstDash val="solid"/>
          </a:ln>
        </p:spPr>
        <p:txBody>
          <a:bodyPr/>
          <a:p/>
        </p:txBody>
      </p:sp>
      <p:sp>
        <p:nvSpPr>
          <p:cNvPr id="52" name="Text 49"/>
          <p:cNvSpPr/>
          <p:nvPr/>
        </p:nvSpPr>
        <p:spPr>
          <a:xfrm>
            <a:off x="4370636" y="6263680"/>
            <a:ext cx="3302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303D"/>
                </a:solidFill>
                <a:latin typeface="Nunito Sans" pitchFamily="34" charset="0"/>
                <a:ea typeface="Arial" pitchFamily="34" charset="-122"/>
                <a:cs typeface="Arial" pitchFamily="34" charset="-120"/>
              </a:rPr>
              <a:t>acts</a:t>
            </a:r>
            <a:endParaRPr lang="en-US" sz="1200" dirty="0"/>
          </a:p>
        </p:txBody>
      </p:sp>
      <p:sp>
        <p:nvSpPr>
          <p:cNvPr id="53" name="Shape 50"/>
          <p:cNvSpPr/>
          <p:nvPr/>
        </p:nvSpPr>
        <p:spPr>
          <a:xfrm>
            <a:off x="4942235" y="6287790"/>
            <a:ext cx="279400" cy="165100"/>
          </a:xfrm>
          <a:prstGeom prst="roundRect">
            <a:avLst>
              <a:gd name="adj" fmla="val 23077"/>
            </a:avLst>
          </a:prstGeom>
          <a:solidFill>
            <a:srgbClr val="FFFBF5"/>
          </a:solidFill>
          <a:ln w="25400">
            <a:solidFill>
              <a:srgbClr val="4A5565"/>
            </a:solidFill>
            <a:prstDash val="dash"/>
          </a:ln>
        </p:spPr>
        <p:txBody>
          <a:bodyPr/>
          <a:p/>
        </p:txBody>
      </p:sp>
      <p:sp>
        <p:nvSpPr>
          <p:cNvPr id="54" name="Text 51"/>
          <p:cNvSpPr/>
          <p:nvPr/>
        </p:nvSpPr>
        <p:spPr>
          <a:xfrm>
            <a:off x="5310535" y="6263680"/>
            <a:ext cx="7539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303D"/>
                </a:solidFill>
                <a:latin typeface="Nunito Sans" pitchFamily="34" charset="0"/>
                <a:ea typeface="Arial" pitchFamily="34" charset="-122"/>
                <a:cs typeface="Arial" pitchFamily="34" charset="-120"/>
              </a:rPr>
              <a:t>reads only</a:t>
            </a:r>
            <a:endParaRPr lang="en-US" sz="1200" dirty="0"/>
          </a:p>
        </p:txBody>
      </p:sp>
      <p:sp>
        <p:nvSpPr>
          <p:cNvPr id="55" name="Shape 52"/>
          <p:cNvSpPr/>
          <p:nvPr/>
        </p:nvSpPr>
        <p:spPr>
          <a:xfrm>
            <a:off x="6305798" y="6287790"/>
            <a:ext cx="279400" cy="165100"/>
          </a:xfrm>
          <a:prstGeom prst="roundRect">
            <a:avLst>
              <a:gd name="adj" fmla="val 23077"/>
            </a:avLst>
          </a:prstGeom>
          <a:solidFill>
            <a:srgbClr val="FFFBF5"/>
          </a:solidFill>
          <a:ln w="25400">
            <a:solidFill>
              <a:srgbClr val="B26A00"/>
            </a:solidFill>
            <a:prstDash val="solid"/>
          </a:ln>
        </p:spPr>
        <p:txBody>
          <a:bodyPr/>
          <a:p/>
        </p:txBody>
      </p:sp>
      <p:sp>
        <p:nvSpPr>
          <p:cNvPr id="56" name="Text 53"/>
          <p:cNvSpPr/>
          <p:nvPr/>
        </p:nvSpPr>
        <p:spPr>
          <a:xfrm>
            <a:off x="6674098" y="6263680"/>
            <a:ext cx="5251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303D"/>
                </a:solidFill>
                <a:latin typeface="Nunito Sans" pitchFamily="34" charset="0"/>
                <a:ea typeface="Arial" pitchFamily="34" charset="-122"/>
                <a:cs typeface="Arial" pitchFamily="34" charset="-120"/>
              </a:rPr>
              <a:t>checks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BF5"/>
        </a:solidFill>
      </p:bgPr>
    </p:bg>
    <p:spTree>
      <p:nvGrpSpPr>
        <p:cNvPr id="1" name=""/>
        <p:cNvGrpSpPr/>
        <p:nvPr/>
      </p:nvGrpSpPr>
      <p:grpSpPr>
        <a:xfrm>
          <a:off x="0" y="0"/>
          <a:ext cx="0" cy="0"/>
          <a:chOff x="0" y="0"/>
          <a:chExt cx="0" cy="0"/>
        </a:xfrm>
      </p:grpSpPr>
      <p:sp>
        <p:nvSpPr>
          <p:cNvPr id="2" name="Shape 0"/>
          <p:cNvSpPr/>
          <p:nvPr/>
        </p:nvSpPr>
        <p:spPr>
          <a:xfrm>
            <a:off x="812800" y="584200"/>
            <a:ext cx="762000" cy="50800"/>
          </a:xfrm>
          <a:prstGeom prst="roundRect">
            <a:avLst>
              <a:gd name="adj" fmla="val 50000"/>
            </a:avLst>
          </a:prstGeom>
          <a:solidFill>
            <a:srgbClr val="A84B25"/>
          </a:solidFill>
          <a:ln/>
        </p:spPr>
        <p:txBody>
          <a:bodyPr/>
          <a:p/>
        </p:txBody>
      </p:sp>
      <p:sp>
        <p:nvSpPr>
          <p:cNvPr id="3" name="Text 1"/>
          <p:cNvSpPr/>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2303D"/>
                </a:solidFill>
                <a:latin typeface="Domine" pitchFamily="34" charset="0"/>
                <a:ea typeface="Georgia" pitchFamily="34" charset="-122"/>
                <a:cs typeface="Georgia" pitchFamily="34" charset="-120"/>
              </a:rPr>
              <a:t>The people, one at a time</a:t>
            </a:r>
            <a:endParaRPr lang="en-US" sz="3200" dirty="0"/>
          </a:p>
        </p:txBody>
      </p:sp>
      <p:sp>
        <p:nvSpPr>
          <p:cNvPr id="4" name="Text 2"/>
          <p:cNvSpPr/>
          <p:nvPr/>
        </p:nvSpPr>
        <p:spPr>
          <a:xfrm>
            <a:off x="812800" y="1437630"/>
            <a:ext cx="10883392"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4A5565"/>
                </a:solidFill>
                <a:latin typeface="Nunito Sans" pitchFamily="34" charset="0"/>
                <a:ea typeface="Arial" pitchFamily="34" charset="-122"/>
                <a:cs typeface="Arial" pitchFamily="34" charset="-120"/>
              </a:rPr>
              <a:t>Many people help deliver a lesson from a training content author's desk to a village meeting and back. Key roles are listed here.</a:t>
            </a:r>
            <a:endParaRPr lang="en-US" sz="1500" dirty="0"/>
          </a:p>
        </p:txBody>
      </p:sp>
      <p:sp>
        <p:nvSpPr>
          <p:cNvPr id="5" name="Shape 3"/>
          <p:cNvSpPr/>
          <p:nvPr/>
        </p:nvSpPr>
        <p:spPr>
          <a:xfrm>
            <a:off x="1133475" y="2126605"/>
            <a:ext cx="679450" cy="679450"/>
          </a:xfrm>
          <a:prstGeom prst="roundRect">
            <a:avLst>
              <a:gd name="adj" fmla="val 50000"/>
            </a:avLst>
          </a:prstGeom>
          <a:solidFill>
            <a:srgbClr val="FFFBF5"/>
          </a:solidFill>
          <a:ln w="31750">
            <a:solidFill>
              <a:srgbClr val="12435A"/>
            </a:solidFill>
            <a:prstDash val="solid"/>
          </a:ln>
        </p:spPr>
        <p:txBody>
          <a:bodyPr/>
          <a:p/>
        </p:txBody>
      </p:sp>
      <p:pic>
        <p:nvPicPr>
          <p:cNvPr id="6" name="Image 0" descr="Key">    </p:cNvPr>
          <p:cNvPicPr>
            <a:picLocks noChangeAspect="1"/>
          </p:cNvPicPr>
          <p:nvPr/>
        </p:nvPicPr>
        <p:blipFill>
          <a:blip r:embed="rId1"/>
          <a:srcRect l="0" r="0" t="0" b="0"/>
          <a:stretch/>
        </p:blipFill>
        <p:spPr>
          <a:xfrm>
            <a:off x="1308100" y="2301230"/>
            <a:ext cx="330200" cy="330200"/>
          </a:xfrm>
          <a:prstGeom prst="rect">
            <a:avLst/>
          </a:prstGeom>
        </p:spPr>
      </p:pic>
      <p:sp>
        <p:nvSpPr>
          <p:cNvPr id="7" name="Shape 4"/>
          <p:cNvSpPr/>
          <p:nvPr/>
        </p:nvSpPr>
        <p:spPr>
          <a:xfrm>
            <a:off x="1828800" y="2450455"/>
            <a:ext cx="609600" cy="31750"/>
          </a:xfrm>
          <a:prstGeom prst="rect">
            <a:avLst/>
          </a:prstGeom>
          <a:solidFill>
            <a:srgbClr val="D9CDB8"/>
          </a:solidFill>
          <a:ln/>
        </p:spPr>
        <p:txBody>
          <a:bodyPr/>
          <a:p/>
        </p:txBody>
      </p:sp>
      <p:sp>
        <p:nvSpPr>
          <p:cNvPr id="8" name="Shape 5"/>
          <p:cNvSpPr/>
          <p:nvPr/>
        </p:nvSpPr>
        <p:spPr>
          <a:xfrm>
            <a:off x="2454275" y="2126605"/>
            <a:ext cx="679450" cy="679450"/>
          </a:xfrm>
          <a:prstGeom prst="roundRect">
            <a:avLst>
              <a:gd name="adj" fmla="val 50000"/>
            </a:avLst>
          </a:prstGeom>
          <a:solidFill>
            <a:srgbClr val="FFFBF5"/>
          </a:solidFill>
          <a:ln w="31750">
            <a:solidFill>
              <a:srgbClr val="12435A"/>
            </a:solidFill>
            <a:prstDash val="solid"/>
          </a:ln>
        </p:spPr>
        <p:txBody>
          <a:bodyPr/>
          <a:p/>
        </p:txBody>
      </p:sp>
      <p:pic>
        <p:nvPicPr>
          <p:cNvPr id="9" name="Image 1" descr="Book">    </p:cNvPr>
          <p:cNvPicPr>
            <a:picLocks noChangeAspect="1"/>
          </p:cNvPicPr>
          <p:nvPr/>
        </p:nvPicPr>
        <p:blipFill>
          <a:blip r:embed="rId2"/>
          <a:srcRect l="0" r="0" t="0" b="0"/>
          <a:stretch/>
        </p:blipFill>
        <p:spPr>
          <a:xfrm>
            <a:off x="2628900" y="2301230"/>
            <a:ext cx="330200" cy="330200"/>
          </a:xfrm>
          <a:prstGeom prst="rect">
            <a:avLst/>
          </a:prstGeom>
        </p:spPr>
      </p:pic>
      <p:sp>
        <p:nvSpPr>
          <p:cNvPr id="10" name="Shape 6"/>
          <p:cNvSpPr/>
          <p:nvPr/>
        </p:nvSpPr>
        <p:spPr>
          <a:xfrm>
            <a:off x="3149600" y="2450455"/>
            <a:ext cx="609600" cy="31750"/>
          </a:xfrm>
          <a:prstGeom prst="rect">
            <a:avLst/>
          </a:prstGeom>
          <a:solidFill>
            <a:srgbClr val="D9CDB8"/>
          </a:solidFill>
          <a:ln/>
        </p:spPr>
        <p:txBody>
          <a:bodyPr/>
          <a:p/>
        </p:txBody>
      </p:sp>
      <p:sp>
        <p:nvSpPr>
          <p:cNvPr id="11" name="Shape 7"/>
          <p:cNvSpPr/>
          <p:nvPr/>
        </p:nvSpPr>
        <p:spPr>
          <a:xfrm>
            <a:off x="3775075" y="2126605"/>
            <a:ext cx="679450" cy="679450"/>
          </a:xfrm>
          <a:prstGeom prst="roundRect">
            <a:avLst>
              <a:gd name="adj" fmla="val 50000"/>
            </a:avLst>
          </a:prstGeom>
          <a:solidFill>
            <a:srgbClr val="FFFBF5"/>
          </a:solidFill>
          <a:ln w="31750">
            <a:solidFill>
              <a:srgbClr val="12435A"/>
            </a:solidFill>
            <a:prstDash val="solid"/>
          </a:ln>
        </p:spPr>
        <p:txBody>
          <a:bodyPr/>
          <a:p/>
        </p:txBody>
      </p:sp>
      <p:pic>
        <p:nvPicPr>
          <p:cNvPr id="12" name="Image 2" descr="Home">    </p:cNvPr>
          <p:cNvPicPr>
            <a:picLocks noChangeAspect="1"/>
          </p:cNvPicPr>
          <p:nvPr/>
        </p:nvPicPr>
        <p:blipFill>
          <a:blip r:embed="rId3"/>
          <a:srcRect l="0" r="0" t="0" b="0"/>
          <a:stretch/>
        </p:blipFill>
        <p:spPr>
          <a:xfrm>
            <a:off x="3949700" y="2301230"/>
            <a:ext cx="330200" cy="330200"/>
          </a:xfrm>
          <a:prstGeom prst="rect">
            <a:avLst/>
          </a:prstGeom>
        </p:spPr>
      </p:pic>
      <p:sp>
        <p:nvSpPr>
          <p:cNvPr id="13" name="Shape 8"/>
          <p:cNvSpPr/>
          <p:nvPr/>
        </p:nvSpPr>
        <p:spPr>
          <a:xfrm>
            <a:off x="4470400" y="2450455"/>
            <a:ext cx="609600" cy="31750"/>
          </a:xfrm>
          <a:prstGeom prst="rect">
            <a:avLst/>
          </a:prstGeom>
          <a:solidFill>
            <a:srgbClr val="D9CDB8"/>
          </a:solidFill>
          <a:ln/>
        </p:spPr>
        <p:txBody>
          <a:bodyPr/>
          <a:p/>
        </p:txBody>
      </p:sp>
      <p:sp>
        <p:nvSpPr>
          <p:cNvPr id="14" name="Shape 9"/>
          <p:cNvSpPr/>
          <p:nvPr/>
        </p:nvSpPr>
        <p:spPr>
          <a:xfrm>
            <a:off x="5095875" y="2126605"/>
            <a:ext cx="679450" cy="679450"/>
          </a:xfrm>
          <a:prstGeom prst="roundRect">
            <a:avLst>
              <a:gd name="adj" fmla="val 50000"/>
            </a:avLst>
          </a:prstGeom>
          <a:solidFill>
            <a:srgbClr val="FFFBF5"/>
          </a:solidFill>
          <a:ln w="31750">
            <a:solidFill>
              <a:srgbClr val="A84B25"/>
            </a:solidFill>
            <a:prstDash val="solid"/>
          </a:ln>
        </p:spPr>
        <p:txBody>
          <a:bodyPr/>
          <a:p/>
        </p:txBody>
      </p:sp>
      <p:pic>
        <p:nvPicPr>
          <p:cNvPr id="15" name="Image 3" descr="GraduationCap">    </p:cNvPr>
          <p:cNvPicPr>
            <a:picLocks noChangeAspect="1"/>
          </p:cNvPicPr>
          <p:nvPr/>
        </p:nvPicPr>
        <p:blipFill>
          <a:blip r:embed="rId4"/>
          <a:srcRect l="0" r="0" t="0" b="0"/>
          <a:stretch/>
        </p:blipFill>
        <p:spPr>
          <a:xfrm>
            <a:off x="5270500" y="2301230"/>
            <a:ext cx="330200" cy="330200"/>
          </a:xfrm>
          <a:prstGeom prst="rect">
            <a:avLst/>
          </a:prstGeom>
        </p:spPr>
      </p:pic>
      <p:sp>
        <p:nvSpPr>
          <p:cNvPr id="16" name="Shape 10"/>
          <p:cNvSpPr/>
          <p:nvPr/>
        </p:nvSpPr>
        <p:spPr>
          <a:xfrm>
            <a:off x="5791200" y="2450455"/>
            <a:ext cx="609600" cy="31750"/>
          </a:xfrm>
          <a:prstGeom prst="rect">
            <a:avLst/>
          </a:prstGeom>
          <a:solidFill>
            <a:srgbClr val="D9CDB8"/>
          </a:solidFill>
          <a:ln/>
        </p:spPr>
        <p:txBody>
          <a:bodyPr/>
          <a:p/>
        </p:txBody>
      </p:sp>
      <p:sp>
        <p:nvSpPr>
          <p:cNvPr id="17" name="Shape 11"/>
          <p:cNvSpPr/>
          <p:nvPr/>
        </p:nvSpPr>
        <p:spPr>
          <a:xfrm>
            <a:off x="6416675" y="2126605"/>
            <a:ext cx="679450" cy="679450"/>
          </a:xfrm>
          <a:prstGeom prst="roundRect">
            <a:avLst>
              <a:gd name="adj" fmla="val 50000"/>
            </a:avLst>
          </a:prstGeom>
          <a:solidFill>
            <a:srgbClr val="FFFBF5"/>
          </a:solidFill>
          <a:ln w="31750">
            <a:solidFill>
              <a:srgbClr val="12435A"/>
            </a:solidFill>
            <a:prstDash val="solid"/>
          </a:ln>
          <a:effectLst>
            <a:outerShdw sx="100000" sy="100000" kx="0" ky="0" algn="bl" rotWithShape="0" blurRad="63500" dist="0" dir="60000">
              <a:srgbClr val="12435A">
                <a:alpha val="18000"/>
              </a:srgbClr>
            </a:outerShdw>
          </a:effectLst>
        </p:spPr>
        <p:txBody>
          <a:bodyPr/>
          <a:p/>
        </p:txBody>
      </p:sp>
      <p:pic>
        <p:nvPicPr>
          <p:cNvPr id="18" name="Image 4" descr="Clock">    </p:cNvPr>
          <p:cNvPicPr>
            <a:picLocks noChangeAspect="1"/>
          </p:cNvPicPr>
          <p:nvPr/>
        </p:nvPicPr>
        <p:blipFill>
          <a:blip r:embed="rId5"/>
          <a:srcRect l="0" r="0" t="0" b="0"/>
          <a:stretch/>
        </p:blipFill>
        <p:spPr>
          <a:xfrm>
            <a:off x="6591300" y="2301230"/>
            <a:ext cx="330200" cy="330200"/>
          </a:xfrm>
          <a:prstGeom prst="rect">
            <a:avLst/>
          </a:prstGeom>
        </p:spPr>
      </p:pic>
      <p:sp>
        <p:nvSpPr>
          <p:cNvPr id="19" name="Shape 12"/>
          <p:cNvSpPr/>
          <p:nvPr/>
        </p:nvSpPr>
        <p:spPr>
          <a:xfrm>
            <a:off x="7112000" y="2450455"/>
            <a:ext cx="609600" cy="31750"/>
          </a:xfrm>
          <a:prstGeom prst="rect">
            <a:avLst/>
          </a:prstGeom>
          <a:solidFill>
            <a:srgbClr val="D9CDB8"/>
          </a:solidFill>
          <a:ln/>
        </p:spPr>
        <p:txBody>
          <a:bodyPr/>
          <a:p/>
        </p:txBody>
      </p:sp>
      <p:sp>
        <p:nvSpPr>
          <p:cNvPr id="20" name="Shape 13"/>
          <p:cNvSpPr/>
          <p:nvPr/>
        </p:nvSpPr>
        <p:spPr>
          <a:xfrm>
            <a:off x="7737475" y="2126605"/>
            <a:ext cx="679450" cy="679450"/>
          </a:xfrm>
          <a:prstGeom prst="roundRect">
            <a:avLst>
              <a:gd name="adj" fmla="val 50000"/>
            </a:avLst>
          </a:prstGeom>
          <a:solidFill>
            <a:srgbClr val="FFFBF5"/>
          </a:solidFill>
          <a:ln w="31750">
            <a:solidFill>
              <a:srgbClr val="4F6B3A"/>
            </a:solidFill>
            <a:prstDash val="solid"/>
          </a:ln>
        </p:spPr>
        <p:txBody>
          <a:bodyPr/>
          <a:p/>
        </p:txBody>
      </p:sp>
      <p:pic>
        <p:nvPicPr>
          <p:cNvPr id="21" name="Image 5" descr="PaperPlane">    </p:cNvPr>
          <p:cNvPicPr>
            <a:picLocks noChangeAspect="1"/>
          </p:cNvPicPr>
          <p:nvPr/>
        </p:nvPicPr>
        <p:blipFill>
          <a:blip r:embed="rId6"/>
          <a:srcRect l="0" r="0" t="0" b="0"/>
          <a:stretch/>
        </p:blipFill>
        <p:spPr>
          <a:xfrm>
            <a:off x="7912100" y="2301230"/>
            <a:ext cx="330200" cy="330200"/>
          </a:xfrm>
          <a:prstGeom prst="rect">
            <a:avLst/>
          </a:prstGeom>
        </p:spPr>
      </p:pic>
      <p:sp>
        <p:nvSpPr>
          <p:cNvPr id="22" name="Shape 14"/>
          <p:cNvSpPr/>
          <p:nvPr/>
        </p:nvSpPr>
        <p:spPr>
          <a:xfrm>
            <a:off x="8432800" y="2450455"/>
            <a:ext cx="609600" cy="31750"/>
          </a:xfrm>
          <a:prstGeom prst="rect">
            <a:avLst/>
          </a:prstGeom>
          <a:solidFill>
            <a:srgbClr val="D9CDB8"/>
          </a:solidFill>
          <a:ln/>
        </p:spPr>
        <p:txBody>
          <a:bodyPr/>
          <a:p/>
        </p:txBody>
      </p:sp>
      <p:sp>
        <p:nvSpPr>
          <p:cNvPr id="23" name="Shape 15"/>
          <p:cNvSpPr/>
          <p:nvPr/>
        </p:nvSpPr>
        <p:spPr>
          <a:xfrm>
            <a:off x="9058275" y="2126605"/>
            <a:ext cx="679450" cy="679450"/>
          </a:xfrm>
          <a:prstGeom prst="roundRect">
            <a:avLst>
              <a:gd name="adj" fmla="val 50000"/>
            </a:avLst>
          </a:prstGeom>
          <a:solidFill>
            <a:srgbClr val="FFFBF5"/>
          </a:solidFill>
          <a:ln w="31750">
            <a:solidFill>
              <a:srgbClr val="12435A"/>
            </a:solidFill>
            <a:prstDash val="solid"/>
          </a:ln>
        </p:spPr>
        <p:txBody>
          <a:bodyPr/>
          <a:p/>
        </p:txBody>
      </p:sp>
      <p:pic>
        <p:nvPicPr>
          <p:cNvPr id="24" name="Image 6" descr="Search">    </p:cNvPr>
          <p:cNvPicPr>
            <a:picLocks noChangeAspect="1"/>
          </p:cNvPicPr>
          <p:nvPr/>
        </p:nvPicPr>
        <p:blipFill>
          <a:blip r:embed="rId7"/>
          <a:srcRect l="0" r="0" t="0" b="0"/>
          <a:stretch/>
        </p:blipFill>
        <p:spPr>
          <a:xfrm>
            <a:off x="9232900" y="2301230"/>
            <a:ext cx="330200" cy="330200"/>
          </a:xfrm>
          <a:prstGeom prst="rect">
            <a:avLst/>
          </a:prstGeom>
        </p:spPr>
      </p:pic>
      <p:sp>
        <p:nvSpPr>
          <p:cNvPr id="25" name="Shape 16"/>
          <p:cNvSpPr/>
          <p:nvPr/>
        </p:nvSpPr>
        <p:spPr>
          <a:xfrm>
            <a:off x="9753600" y="2450455"/>
            <a:ext cx="609600" cy="31750"/>
          </a:xfrm>
          <a:prstGeom prst="rect">
            <a:avLst/>
          </a:prstGeom>
          <a:solidFill>
            <a:srgbClr val="D9CDB8"/>
          </a:solidFill>
          <a:ln/>
        </p:spPr>
        <p:txBody>
          <a:bodyPr/>
          <a:p/>
        </p:txBody>
      </p:sp>
      <p:sp>
        <p:nvSpPr>
          <p:cNvPr id="26" name="Shape 17"/>
          <p:cNvSpPr/>
          <p:nvPr/>
        </p:nvSpPr>
        <p:spPr>
          <a:xfrm>
            <a:off x="10379075" y="2126605"/>
            <a:ext cx="679450" cy="679450"/>
          </a:xfrm>
          <a:prstGeom prst="roundRect">
            <a:avLst>
              <a:gd name="adj" fmla="val 50000"/>
            </a:avLst>
          </a:prstGeom>
          <a:solidFill>
            <a:srgbClr val="FFFBF5"/>
          </a:solidFill>
          <a:ln w="31750">
            <a:solidFill>
              <a:srgbClr val="B26A00"/>
            </a:solidFill>
            <a:prstDash val="solid"/>
          </a:ln>
        </p:spPr>
        <p:txBody>
          <a:bodyPr/>
          <a:p/>
        </p:txBody>
      </p:sp>
      <p:pic>
        <p:nvPicPr>
          <p:cNvPr id="27" name="Image 7" descr="Chart">    </p:cNvPr>
          <p:cNvPicPr>
            <a:picLocks noChangeAspect="1"/>
          </p:cNvPicPr>
          <p:nvPr/>
        </p:nvPicPr>
        <p:blipFill>
          <a:blip r:embed="rId8"/>
          <a:srcRect l="0" r="0" t="0" b="0"/>
          <a:stretch/>
        </p:blipFill>
        <p:spPr>
          <a:xfrm>
            <a:off x="10553700" y="2301230"/>
            <a:ext cx="330200" cy="330200"/>
          </a:xfrm>
          <a:prstGeom prst="rect">
            <a:avLst/>
          </a:prstGeom>
        </p:spPr>
      </p:pic>
      <p:sp>
        <p:nvSpPr>
          <p:cNvPr id="28" name="Text 18"/>
          <p:cNvSpPr/>
          <p:nvPr/>
        </p:nvSpPr>
        <p:spPr>
          <a:xfrm>
            <a:off x="787400" y="2910830"/>
            <a:ext cx="1371600" cy="39112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2303D"/>
                </a:solidFill>
                <a:latin typeface="Nunito Sans" pitchFamily="34" charset="0"/>
                <a:ea typeface="Arial" pitchFamily="34" charset="-122"/>
                <a:cs typeface="Arial" pitchFamily="34" charset="-120"/>
              </a:rPr>
              <a:t>Administrator</a:t>
            </a:r>
            <a:endParaRPr lang="en-US" sz="1200" dirty="0"/>
          </a:p>
        </p:txBody>
      </p:sp>
      <p:sp>
        <p:nvSpPr>
          <p:cNvPr id="29" name="Text 19"/>
          <p:cNvSpPr/>
          <p:nvPr/>
        </p:nvSpPr>
        <p:spPr>
          <a:xfrm>
            <a:off x="2108200" y="2910830"/>
            <a:ext cx="1371600" cy="39112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2303D"/>
                </a:solidFill>
                <a:latin typeface="Nunito Sans" pitchFamily="34" charset="0"/>
                <a:ea typeface="Arial" pitchFamily="34" charset="-122"/>
                <a:cs typeface="Arial" pitchFamily="34" charset="-120"/>
              </a:rPr>
              <a:t>Content author</a:t>
            </a:r>
            <a:endParaRPr lang="en-US" sz="1200" dirty="0"/>
          </a:p>
        </p:txBody>
      </p:sp>
      <p:sp>
        <p:nvSpPr>
          <p:cNvPr id="30" name="Text 20"/>
          <p:cNvSpPr/>
          <p:nvPr/>
        </p:nvSpPr>
        <p:spPr>
          <a:xfrm>
            <a:off x="3429000" y="2910830"/>
            <a:ext cx="1371600" cy="39112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2303D"/>
                </a:solidFill>
                <a:latin typeface="Nunito Sans" pitchFamily="34" charset="0"/>
                <a:ea typeface="Arial" pitchFamily="34" charset="-122"/>
                <a:cs typeface="Arial" pitchFamily="34" charset="-120"/>
              </a:rPr>
              <a:t>District officer</a:t>
            </a:r>
            <a:endParaRPr lang="en-US" sz="1200" dirty="0"/>
          </a:p>
        </p:txBody>
      </p:sp>
      <p:sp>
        <p:nvSpPr>
          <p:cNvPr id="31" name="Text 21"/>
          <p:cNvSpPr/>
          <p:nvPr/>
        </p:nvSpPr>
        <p:spPr>
          <a:xfrm>
            <a:off x="4749800" y="2910830"/>
            <a:ext cx="1371600" cy="39112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A84B25"/>
                </a:solidFill>
                <a:latin typeface="Nunito Sans" pitchFamily="34" charset="0"/>
                <a:ea typeface="Arial" pitchFamily="34" charset="-122"/>
                <a:cs typeface="Arial" pitchFamily="34" charset="-120"/>
              </a:rPr>
              <a:t>Partner manager</a:t>
            </a:r>
            <a:endParaRPr lang="en-US" sz="1200" dirty="0"/>
          </a:p>
        </p:txBody>
      </p:sp>
      <p:sp>
        <p:nvSpPr>
          <p:cNvPr id="32" name="Text 22"/>
          <p:cNvSpPr/>
          <p:nvPr/>
        </p:nvSpPr>
        <p:spPr>
          <a:xfrm>
            <a:off x="6070600" y="2910830"/>
            <a:ext cx="1371600" cy="39112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2435A"/>
                </a:solidFill>
                <a:latin typeface="Nunito Sans" pitchFamily="34" charset="0"/>
                <a:ea typeface="Arial" pitchFamily="34" charset="-122"/>
                <a:cs typeface="Arial" pitchFamily="34" charset="-120"/>
              </a:rPr>
              <a:t>The coordinator</a:t>
            </a:r>
            <a:endParaRPr lang="en-US" sz="1200" dirty="0"/>
          </a:p>
        </p:txBody>
      </p:sp>
      <p:sp>
        <p:nvSpPr>
          <p:cNvPr id="33" name="Text 23"/>
          <p:cNvSpPr/>
          <p:nvPr/>
        </p:nvSpPr>
        <p:spPr>
          <a:xfrm>
            <a:off x="7391400" y="2910830"/>
            <a:ext cx="1371600" cy="39112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4F6B3A"/>
                </a:solidFill>
                <a:latin typeface="Nunito Sans" pitchFamily="34" charset="0"/>
                <a:ea typeface="Arial" pitchFamily="34" charset="-122"/>
                <a:cs typeface="Arial" pitchFamily="34" charset="-120"/>
              </a:rPr>
              <a:t>Trainer</a:t>
            </a:r>
            <a:endParaRPr lang="en-US" sz="1200" dirty="0"/>
          </a:p>
        </p:txBody>
      </p:sp>
      <p:sp>
        <p:nvSpPr>
          <p:cNvPr id="34" name="Text 24"/>
          <p:cNvSpPr/>
          <p:nvPr/>
        </p:nvSpPr>
        <p:spPr>
          <a:xfrm>
            <a:off x="8712200" y="2910830"/>
            <a:ext cx="1371600" cy="39112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2303D"/>
                </a:solidFill>
                <a:latin typeface="Nunito Sans" pitchFamily="34" charset="0"/>
                <a:ea typeface="Arial" pitchFamily="34" charset="-122"/>
                <a:cs typeface="Arial" pitchFamily="34" charset="-120"/>
              </a:rPr>
              <a:t>Regional coordinator</a:t>
            </a:r>
            <a:endParaRPr lang="en-US" sz="1200" dirty="0"/>
          </a:p>
        </p:txBody>
      </p:sp>
      <p:sp>
        <p:nvSpPr>
          <p:cNvPr id="35" name="Text 25"/>
          <p:cNvSpPr/>
          <p:nvPr/>
        </p:nvSpPr>
        <p:spPr>
          <a:xfrm>
            <a:off x="10033000" y="2910830"/>
            <a:ext cx="1371600" cy="39112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B26A00"/>
                </a:solidFill>
                <a:latin typeface="Nunito Sans" pitchFamily="34" charset="0"/>
                <a:ea typeface="Arial" pitchFamily="34" charset="-122"/>
                <a:cs typeface="Arial" pitchFamily="34" charset="-120"/>
              </a:rPr>
              <a:t>M&amp;E officer</a:t>
            </a:r>
            <a:endParaRPr lang="en-US" sz="1200" dirty="0"/>
          </a:p>
        </p:txBody>
      </p:sp>
      <p:sp>
        <p:nvSpPr>
          <p:cNvPr id="36" name="Shape 26"/>
          <p:cNvSpPr/>
          <p:nvPr/>
        </p:nvSpPr>
        <p:spPr>
          <a:xfrm>
            <a:off x="825500" y="3467050"/>
            <a:ext cx="10541000" cy="1101233"/>
          </a:xfrm>
          <a:prstGeom prst="roundRect">
            <a:avLst>
              <a:gd name="adj" fmla="val 6455"/>
            </a:avLst>
          </a:prstGeom>
          <a:solidFill>
            <a:srgbClr val="F3E9DA"/>
          </a:solidFill>
          <a:ln w="25400">
            <a:solidFill>
              <a:srgbClr val="12435A"/>
            </a:solidFill>
            <a:prstDash val="solid"/>
          </a:ln>
        </p:spPr>
        <p:txBody>
          <a:bodyPr/>
          <a:p/>
        </p:txBody>
      </p:sp>
      <p:sp>
        <p:nvSpPr>
          <p:cNvPr id="38" name="Text 28"/>
          <p:cNvSpPr/>
          <p:nvPr/>
        </p:nvSpPr>
        <p:spPr>
          <a:xfrm>
            <a:off x="1092200" y="3668218"/>
            <a:ext cx="10307828"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2303D"/>
                </a:solidFill>
                <a:latin typeface="Domine" pitchFamily="34" charset="0"/>
                <a:ea typeface="Georgia" pitchFamily="34" charset="-122"/>
                <a:cs typeface="Georgia" pitchFamily="34" charset="-120"/>
              </a:rPr>
              <a:t>Choose a person, and see their functions</a:t>
            </a:r>
            <a:endParaRPr lang="en-US" sz="2000" dirty="0"/>
          </a:p>
        </p:txBody>
      </p:sp>
      <p:sp>
        <p:nvSpPr>
          <p:cNvPr id="40" name="Text 30"/>
          <p:cNvSpPr/>
          <p:nvPr/>
        </p:nvSpPr>
        <p:spPr>
          <a:xfrm>
            <a:off x="1092200" y="4045718"/>
            <a:ext cx="10307828" cy="248245"/>
          </a:xfrm>
          <a:prstGeom prst="rect">
            <a:avLst/>
          </a:prstGeom>
          <a:noFill/>
          <a:ln/>
        </p:spPr>
        <p:txBody>
          <a:bodyPr wrap="square" lIns="0" tIns="0" rIns="0" bIns="0" rtlCol="0" anchor="t">
            <a:normAutofit/>
          </a:bodyPr>
          <a:lstStyle/>
          <a:p>
            <a:pPr algn="l" indent="0" marL="0">
              <a:lnSpc>
                <a:spcPts val="1755"/>
              </a:lnSpc>
              <a:buNone/>
            </a:pPr>
            <a:r>
              <a:rPr lang="en-US" sz="1300" u="sng" dirty="0">
                <a:solidFill>
                  <a:srgbClr val="12303D"/>
                </a:solidFill>
                <a:latin typeface="Nunito Sans" pitchFamily="34" charset="0"/>
                <a:ea typeface="Arial" pitchFamily="34" charset="-122"/>
                <a:cs typeface="Arial" pitchFamily="34" charset="-120"/>
                <a:hlinkClick r:id="rId9"/>
              </a:rPr>
              <a:t>andvraman.github.io/cmg-cap/personas.html</a:t>
            </a:r>
            <a:endParaRPr lang="en-US" sz="1300" dirty="0"/>
          </a:p>
        </p:txBody>
      </p:sp>
      <p:sp>
        <p:nvSpPr>
          <p:cNvPr id="41" name="Text 3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435A"/>
                </a:solidFill>
                <a:latin typeface="Nunito Sans" pitchFamily="34" charset="0"/>
                <a:ea typeface="Arial" pitchFamily="34" charset="-122"/>
                <a:cs typeface="Arial" pitchFamily="34" charset="-120"/>
              </a:rPr>
              <a:t>TAMISEMI</a:t>
            </a:r>
            <a:r>
              <a:rPr lang="en-US" sz="1200" b="1" dirty="0">
                <a:solidFill>
                  <a:srgbClr val="12303D"/>
                </a:solidFill>
                <a:latin typeface="Nunito Sans" pitchFamily="34" charset="0"/>
                <a:ea typeface="Arial" pitchFamily="34" charset="-122"/>
                <a:cs typeface="Arial" pitchFamily="34" charset="-120"/>
              </a:rPr>
              <a:t> </a:t>
            </a:r>
            <a:r>
              <a:rPr lang="en-US" sz="1200" b="1" dirty="0">
                <a:solidFill>
                  <a:srgbClr val="4A5565"/>
                </a:solidFill>
                <a:latin typeface="Nunito Sans" pitchFamily="34" charset="0"/>
                <a:ea typeface="Arial" pitchFamily="34" charset="-122"/>
                <a:cs typeface="Arial" pitchFamily="34" charset="-120"/>
              </a:rPr>
              <a:t>·</a:t>
            </a:r>
            <a:r>
              <a:rPr lang="en-US" sz="1200" b="1" dirty="0">
                <a:solidFill>
                  <a:srgbClr val="12303D"/>
                </a:solidFill>
                <a:latin typeface="Nunito Sans" pitchFamily="34" charset="0"/>
                <a:ea typeface="Arial" pitchFamily="34" charset="-122"/>
                <a:cs typeface="Arial" pitchFamily="34" charset="-120"/>
              </a:rPr>
              <a:t> </a:t>
            </a:r>
            <a:r>
              <a:rPr lang="en-US" sz="1200" b="1" dirty="0">
                <a:solidFill>
                  <a:srgbClr val="A84B25"/>
                </a:solidFill>
                <a:latin typeface="Nunito Sans" pitchFamily="34" charset="0"/>
                <a:ea typeface="Arial" pitchFamily="34" charset="-122"/>
                <a:cs typeface="Arial" pitchFamily="34" charset="-120"/>
              </a:rPr>
              <a:t>BDS partner</a:t>
            </a:r>
            <a:r>
              <a:rPr lang="en-US" sz="1200" b="1" dirty="0">
                <a:solidFill>
                  <a:srgbClr val="12303D"/>
                </a:solidFill>
                <a:latin typeface="Nunito Sans" pitchFamily="34" charset="0"/>
                <a:ea typeface="Arial" pitchFamily="34" charset="-122"/>
                <a:cs typeface="Arial" pitchFamily="34" charset="-120"/>
              </a:rPr>
              <a:t> </a:t>
            </a:r>
            <a:r>
              <a:rPr lang="en-US" sz="1200" b="1" dirty="0">
                <a:solidFill>
                  <a:srgbClr val="4A5565"/>
                </a:solidFill>
                <a:latin typeface="Nunito Sans" pitchFamily="34" charset="0"/>
                <a:ea typeface="Arial" pitchFamily="34" charset="-122"/>
                <a:cs typeface="Arial" pitchFamily="34" charset="-120"/>
              </a:rPr>
              <a:t>·</a:t>
            </a:r>
            <a:r>
              <a:rPr lang="en-US" sz="1200" b="1" dirty="0">
                <a:solidFill>
                  <a:srgbClr val="12303D"/>
                </a:solidFill>
                <a:latin typeface="Nunito Sans" pitchFamily="34" charset="0"/>
                <a:ea typeface="Arial" pitchFamily="34" charset="-122"/>
                <a:cs typeface="Arial" pitchFamily="34" charset="-120"/>
              </a:rPr>
              <a:t> </a:t>
            </a:r>
            <a:r>
              <a:rPr lang="en-US" sz="1200" b="1" dirty="0">
                <a:solidFill>
                  <a:srgbClr val="4F6B3A"/>
                </a:solidFill>
                <a:latin typeface="Nunito Sans" pitchFamily="34" charset="0"/>
                <a:ea typeface="Arial" pitchFamily="34" charset="-122"/>
                <a:cs typeface="Arial" pitchFamily="34" charset="-120"/>
              </a:rPr>
              <a:t>In the field</a:t>
            </a:r>
            <a:r>
              <a:rPr lang="en-US" sz="1200" b="1" dirty="0">
                <a:solidFill>
                  <a:srgbClr val="12303D"/>
                </a:solidFill>
                <a:latin typeface="Nunito Sans" pitchFamily="34" charset="0"/>
                <a:ea typeface="Arial" pitchFamily="34" charset="-122"/>
                <a:cs typeface="Arial" pitchFamily="34" charset="-120"/>
              </a:rPr>
              <a:t> </a:t>
            </a:r>
            <a:r>
              <a:rPr lang="en-US" sz="1200" b="1" dirty="0">
                <a:solidFill>
                  <a:srgbClr val="4A5565"/>
                </a:solidFill>
                <a:latin typeface="Nunito Sans" pitchFamily="34" charset="0"/>
                <a:ea typeface="Arial" pitchFamily="34" charset="-122"/>
                <a:cs typeface="Arial" pitchFamily="34" charset="-120"/>
              </a:rPr>
              <a:t>·</a:t>
            </a:r>
            <a:r>
              <a:rPr lang="en-US" sz="1200" b="1" dirty="0">
                <a:solidFill>
                  <a:srgbClr val="12303D"/>
                </a:solidFill>
                <a:latin typeface="Nunito Sans" pitchFamily="34" charset="0"/>
                <a:ea typeface="Arial" pitchFamily="34" charset="-122"/>
                <a:cs typeface="Arial" pitchFamily="34" charset="-120"/>
              </a:rPr>
              <a:t> </a:t>
            </a:r>
            <a:r>
              <a:rPr lang="en-US" sz="1200" b="1" dirty="0">
                <a:solidFill>
                  <a:srgbClr val="B26A00"/>
                </a:solidFill>
                <a:latin typeface="Nunito Sans" pitchFamily="34" charset="0"/>
                <a:ea typeface="Arial" pitchFamily="34" charset="-122"/>
                <a:cs typeface="Arial" pitchFamily="34" charset="-120"/>
              </a:rPr>
              <a:t>Monitors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CMG Training: system introduction</dc:title>
  <dc:subject>PptxGenJS Presentation</dc:subject>
  <dc:creator>PptxGenJS</dc:creator>
  <cp:lastModifiedBy>PptxGenJS</cp:lastModifiedBy>
  <cp:revision>1</cp:revision>
  <dcterms:created xsi:type="dcterms:W3CDTF">2026-09-21T19:26:57Z</dcterms:created>
  <dcterms:modified xsi:type="dcterms:W3CDTF">2026-09-21T19:26:57Z</dcterms:modified>
</cp:coreProperties>
</file>