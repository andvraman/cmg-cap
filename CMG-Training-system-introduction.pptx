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is the district coordinator, or the ward coordinator where the district has been divided into areas; a ward coordinator plans and schedules for every ward in their area. First stop: the partner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coordinator" means the district coordinator, who runs training in a district, draws its areas and appoints their ward coordinators, each of whom plans and schedules for several wards.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is "the coordinator": they draw the areas, and carry on coordinating the parts of the district that have not been handed over.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coordinator: the rest of the system turns round that job.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Nunito Sans"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Domine"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Nunito Sans"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Shape 1"/>
          <p:cNvSpPr/>
          <p:nvPr/>
        </p:nvSpPr>
        <p:spPr>
          <a:xfrm>
            <a:off x="7302500" y="3784600"/>
            <a:ext cx="4076700" cy="2247900"/>
          </a:xfrm>
          <a:prstGeom prst="roundRect">
            <a:avLst>
              <a:gd name="adj" fmla="val 9040"/>
            </a:avLst>
          </a:prstGeom>
          <a:solidFill>
            <a:srgbClr val="E7EEDD"/>
          </a:solidFill>
          <a:ln/>
        </p:spPr>
        <p:txBody>
          <a:bodyPr/>
          <a:p/>
        </p:txBody>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Nunito Sans"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The training cycle</a:t>
            </a:r>
            <a:endParaRPr lang="en-US" sz="3200" dirty="0"/>
          </a:p>
        </p:txBody>
      </p:sp>
      <p:sp>
        <p:nvSpPr>
          <p:cNvPr id="7" name="Shape 4"/>
          <p:cNvSpPr/>
          <p:nvPr/>
        </p:nvSpPr>
        <p:spPr>
          <a:xfrm>
            <a:off x="502285" y="1730375"/>
            <a:ext cx="2800350" cy="3079750"/>
          </a:xfrm>
          <a:prstGeom prst="roundRect">
            <a:avLst>
              <a:gd name="adj" fmla="val 5102"/>
            </a:avLst>
          </a:prstGeom>
          <a:solidFill>
            <a:srgbClr val="F3E9DA"/>
          </a:solidFill>
          <a:ln w="19050">
            <a:solidFill>
              <a:srgbClr val="12435A"/>
            </a:solidFill>
            <a:prstDash val="dash"/>
          </a:ln>
        </p:spPr>
        <p:txBody>
          <a:bodyPr/>
          <a:p/>
        </p:txBody>
      </p:sp>
      <p:sp>
        <p:nvSpPr>
          <p:cNvPr id="8" name="Text 5"/>
          <p:cNvSpPr/>
          <p:nvPr/>
        </p:nvSpPr>
        <p:spPr>
          <a:xfrm>
            <a:off x="68961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Nunito Sans" pitchFamily="34" charset="0"/>
                <a:ea typeface="Arial" pitchFamily="34" charset="-122"/>
                <a:cs typeface="Arial" pitchFamily="34" charset="-120"/>
              </a:rPr>
              <a:t>BEFORE THE JOURNEY</a:t>
            </a:r>
            <a:endParaRPr lang="en-US" sz="1050" dirty="0"/>
          </a:p>
        </p:txBody>
      </p:sp>
      <p:sp>
        <p:nvSpPr>
          <p:cNvPr id="9" name="Text 6"/>
          <p:cNvSpPr/>
          <p:nvPr/>
        </p:nvSpPr>
        <p:spPr>
          <a:xfrm>
            <a:off x="68961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Domine"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689610" y="2667695"/>
            <a:ext cx="241300" cy="241300"/>
          </a:xfrm>
          <a:prstGeom prst="rect">
            <a:avLst/>
          </a:prstGeom>
        </p:spPr>
      </p:pic>
      <p:sp>
        <p:nvSpPr>
          <p:cNvPr id="11" name="Text 7"/>
          <p:cNvSpPr/>
          <p:nvPr/>
        </p:nvSpPr>
        <p:spPr>
          <a:xfrm>
            <a:off x="101981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Write</a:t>
            </a:r>
            <a:r>
              <a:rPr lang="en-US" sz="1300" dirty="0">
                <a:solidFill>
                  <a:srgbClr val="12303D"/>
                </a:solidFill>
                <a:latin typeface="Nunito Sans"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689610" y="3017292"/>
            <a:ext cx="200422" cy="241300"/>
          </a:xfrm>
          <a:prstGeom prst="rect">
            <a:avLst/>
          </a:prstGeom>
        </p:spPr>
      </p:pic>
      <p:sp>
        <p:nvSpPr>
          <p:cNvPr id="13" name="Text 8"/>
          <p:cNvSpPr/>
          <p:nvPr/>
        </p:nvSpPr>
        <p:spPr>
          <a:xfrm>
            <a:off x="97893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Review, publish</a:t>
            </a:r>
            <a:r>
              <a:rPr lang="en-US" sz="1300" dirty="0">
                <a:solidFill>
                  <a:srgbClr val="12303D"/>
                </a:solidFill>
                <a:latin typeface="Nunito Sans"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689610" y="3366889"/>
            <a:ext cx="241300" cy="241300"/>
          </a:xfrm>
          <a:prstGeom prst="rect">
            <a:avLst/>
          </a:prstGeom>
        </p:spPr>
      </p:pic>
      <p:sp>
        <p:nvSpPr>
          <p:cNvPr id="15" name="Text 9"/>
          <p:cNvSpPr/>
          <p:nvPr/>
        </p:nvSpPr>
        <p:spPr>
          <a:xfrm>
            <a:off x="101981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Translate</a:t>
            </a:r>
            <a:r>
              <a:rPr lang="en-US" sz="1300" dirty="0">
                <a:solidFill>
                  <a:srgbClr val="12303D"/>
                </a:solidFill>
                <a:latin typeface="Nunito Sans"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689610" y="3716486"/>
            <a:ext cx="214908" cy="241300"/>
          </a:xfrm>
          <a:prstGeom prst="rect">
            <a:avLst/>
          </a:prstGeom>
        </p:spPr>
      </p:pic>
      <p:sp>
        <p:nvSpPr>
          <p:cNvPr id="17" name="Text 10"/>
          <p:cNvSpPr/>
          <p:nvPr/>
        </p:nvSpPr>
        <p:spPr>
          <a:xfrm>
            <a:off x="99341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Register groups</a:t>
            </a:r>
            <a:r>
              <a:rPr lang="en-US" sz="1300" dirty="0">
                <a:solidFill>
                  <a:srgbClr val="12303D"/>
                </a:solidFill>
                <a:latin typeface="Nunito Sans" pitchFamily="34" charset="0"/>
                <a:ea typeface="Arial" pitchFamily="34" charset="-122"/>
                <a:cs typeface="Arial" pitchFamily="34" charset="-120"/>
              </a:rPr>
              <a:t> · district officer</a:t>
            </a:r>
            <a:endParaRPr lang="en-US" sz="1300" dirty="0"/>
          </a:p>
        </p:txBody>
      </p:sp>
      <p:sp>
        <p:nvSpPr>
          <p:cNvPr id="18" name="Text 11"/>
          <p:cNvSpPr/>
          <p:nvPr/>
        </p:nvSpPr>
        <p:spPr>
          <a:xfrm>
            <a:off x="68961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Nunito Sans" pitchFamily="34" charset="0"/>
                <a:ea typeface="Arial" pitchFamily="34" charset="-122"/>
                <a:cs typeface="Arial" pitchFamily="34" charset="-120"/>
              </a:rPr>
              <a:t>What we learn comes back:</a:t>
            </a:r>
            <a:r>
              <a:rPr lang="en-US" sz="1121" dirty="0">
                <a:solidFill>
                  <a:srgbClr val="B26A00"/>
                </a:solidFill>
                <a:latin typeface="Nunito Sans"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Nunito Sans"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Allocating trainers to CMGs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The coordinator checks delivery reports</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Nunito Sans"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Nunito Sans" pitchFamily="34" charset="0"/>
                <a:ea typeface="Arial" pitchFamily="34" charset="-122"/>
                <a:cs typeface="Arial" pitchFamily="34" charset="-120"/>
              </a:rPr>
              <a:t>BDS partner</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12435A"/>
                </a:solidFill>
                <a:latin typeface="Nunito Sans" pitchFamily="34" charset="0"/>
                <a:ea typeface="Arial" pitchFamily="34" charset="-122"/>
                <a:cs typeface="Arial" pitchFamily="34" charset="-120"/>
              </a:rPr>
              <a:t>TAMISEMI: content and coordination</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4F6B3A"/>
                </a:solidFill>
                <a:latin typeface="Nunito Sans" pitchFamily="34" charset="0"/>
                <a:ea typeface="Arial" pitchFamily="34" charset="-122"/>
                <a:cs typeface="Arial" pitchFamily="34" charset="-120"/>
              </a:rPr>
              <a:t>In the field</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B26A00"/>
                </a:solidFill>
                <a:latin typeface="Nunito Sans"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Nunito Sans"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Nunito Sans" pitchFamily="34" charset="0"/>
                <a:ea typeface="Arial" pitchFamily="34" charset="-122"/>
                <a:cs typeface="Arial" pitchFamily="34" charset="-120"/>
              </a:rPr>
              <a:t>Does the work fit, and what are the trips?</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Trainer 1, Trainer 2: Trainer n</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Nunito Sans"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Nunito Sans"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Certified, posted there, available</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Nunito Sans"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Nunito Sans" pitchFamily="34" charset="0"/>
                <a:ea typeface="Arial" pitchFamily="34" charset="-122"/>
                <a:cs typeface="Arial" pitchFamily="34" charset="-120"/>
              </a:rPr>
              <a:t>A draft session, when schedules are tentative</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Nunito Sans"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Nunito Sans" pitchFamily="34" charset="0"/>
                <a:ea typeface="Arial" pitchFamily="34" charset="-122"/>
                <a:cs typeface="Arial" pitchFamily="34" charset="-120"/>
              </a:rPr>
              <a:t>The planner proposes. The scheduler decides.</a:t>
            </a:r>
            <a:r>
              <a:rPr lang="en-US" sz="1500" dirty="0">
                <a:solidFill>
                  <a:srgbClr val="12303D"/>
                </a:solidFill>
                <a:latin typeface="Nunito Sans"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635750"/>
            <a:ext cx="10566400" cy="304800"/>
          </a:xfrm>
          <a:prstGeom prst="rect">
            <a:avLst/>
          </a:prstGeom>
        </p:spPr>
      </p:pic>
      <p:sp>
        <p:nvSpPr>
          <p:cNvPr id="5" name="Shape 2"/>
          <p:cNvSpPr/>
          <p:nvPr/>
        </p:nvSpPr>
        <p:spPr>
          <a:xfrm>
            <a:off x="825500" y="1953250"/>
            <a:ext cx="10541000" cy="2911475"/>
          </a:xfrm>
          <a:prstGeom prst="rect">
            <a:avLst/>
          </a:prstGeom>
          <a:noFill/>
          <a:ln w="25400">
            <a:solidFill>
              <a:srgbClr val="12303D"/>
            </a:solidFill>
            <a:prstDash val="solid"/>
          </a:ln>
        </p:spPr>
        <p:txBody>
          <a:bodyPr/>
          <a:p/>
        </p:txBody>
      </p:sp>
      <p:sp>
        <p:nvSpPr>
          <p:cNvPr id="6" name="Shape 3"/>
          <p:cNvSpPr/>
          <p:nvPr/>
        </p:nvSpPr>
        <p:spPr>
          <a:xfrm>
            <a:off x="838200" y="1965950"/>
            <a:ext cx="1143000" cy="523875"/>
          </a:xfrm>
          <a:prstGeom prst="rect">
            <a:avLst/>
          </a:prstGeom>
          <a:solidFill>
            <a:srgbClr val="12303D"/>
          </a:solidFill>
          <a:ln/>
        </p:spPr>
        <p:txBody>
          <a:bodyPr/>
          <a:p/>
        </p:txBody>
      </p:sp>
      <p:sp>
        <p:nvSpPr>
          <p:cNvPr id="7" name="Text 4"/>
          <p:cNvSpPr/>
          <p:nvPr/>
        </p:nvSpPr>
        <p:spPr>
          <a:xfrm>
            <a:off x="812800" y="20167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NATIONAL</a:t>
            </a:r>
            <a:endParaRPr lang="en-US" sz="1200" dirty="0"/>
          </a:p>
        </p:txBody>
      </p:sp>
      <p:sp>
        <p:nvSpPr>
          <p:cNvPr id="8" name="Shape 5"/>
          <p:cNvSpPr/>
          <p:nvPr/>
        </p:nvSpPr>
        <p:spPr>
          <a:xfrm>
            <a:off x="1981200" y="1965950"/>
            <a:ext cx="3352800" cy="523875"/>
          </a:xfrm>
          <a:prstGeom prst="rect">
            <a:avLst/>
          </a:prstGeom>
          <a:solidFill>
            <a:srgbClr val="FFFBF5"/>
          </a:solidFill>
          <a:ln/>
        </p:spPr>
        <p:txBody>
          <a:bodyPr/>
          <a:p/>
        </p:txBody>
      </p:sp>
      <p:sp>
        <p:nvSpPr>
          <p:cNvPr id="9" name="Text 6"/>
          <p:cNvSpPr/>
          <p:nvPr/>
        </p:nvSpPr>
        <p:spPr>
          <a:xfrm>
            <a:off x="21336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Owns the platform</a:t>
            </a:r>
            <a:endParaRPr lang="en-US" sz="1200" dirty="0"/>
          </a:p>
        </p:txBody>
      </p:sp>
      <p:sp>
        <p:nvSpPr>
          <p:cNvPr id="11" name="Shape 8"/>
          <p:cNvSpPr/>
          <p:nvPr/>
        </p:nvSpPr>
        <p:spPr>
          <a:xfrm>
            <a:off x="5334000" y="1965950"/>
            <a:ext cx="2667000" cy="523875"/>
          </a:xfrm>
          <a:prstGeom prst="rect">
            <a:avLst/>
          </a:prstGeom>
          <a:solidFill>
            <a:srgbClr val="12303D"/>
          </a:solidFill>
          <a:ln/>
        </p:spPr>
        <p:txBody>
          <a:bodyPr/>
          <a:p/>
        </p:txBody>
      </p:sp>
      <p:sp>
        <p:nvSpPr>
          <p:cNvPr id="12" name="Text 9"/>
          <p:cNvSpPr/>
          <p:nvPr/>
        </p:nvSpPr>
        <p:spPr>
          <a:xfrm>
            <a:off x="5411724" y="20167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965950"/>
            <a:ext cx="3352800" cy="523875"/>
          </a:xfrm>
          <a:prstGeom prst="rect">
            <a:avLst/>
          </a:prstGeom>
          <a:solidFill>
            <a:srgbClr val="FFFBF5"/>
          </a:solidFill>
          <a:ln/>
        </p:spPr>
        <p:txBody>
          <a:bodyPr/>
          <a:p/>
        </p:txBody>
      </p:sp>
      <p:sp>
        <p:nvSpPr>
          <p:cNvPr id="14" name="Text 11"/>
          <p:cNvSpPr/>
          <p:nvPr/>
        </p:nvSpPr>
        <p:spPr>
          <a:xfrm>
            <a:off x="81534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Partner manager</a:t>
            </a:r>
            <a:endParaRPr lang="en-US" sz="1500" dirty="0"/>
          </a:p>
        </p:txBody>
      </p:sp>
      <p:sp>
        <p:nvSpPr>
          <p:cNvPr id="15" name="Text 12"/>
          <p:cNvSpPr/>
          <p:nvPr/>
        </p:nvSpPr>
        <p:spPr>
          <a:xfrm>
            <a:off x="81534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Certifies the trainers</a:t>
            </a:r>
            <a:endParaRPr lang="en-US" sz="1200" dirty="0"/>
          </a:p>
        </p:txBody>
      </p:sp>
      <p:sp>
        <p:nvSpPr>
          <p:cNvPr id="16" name="Shape 13"/>
          <p:cNvSpPr/>
          <p:nvPr/>
        </p:nvSpPr>
        <p:spPr>
          <a:xfrm>
            <a:off x="838200" y="2499350"/>
            <a:ext cx="10515600" cy="0"/>
          </a:xfrm>
          <a:prstGeom prst="line">
            <a:avLst/>
          </a:prstGeom>
          <a:noFill/>
          <a:ln w="19050">
            <a:solidFill>
              <a:srgbClr val="12303D"/>
            </a:solidFill>
            <a:prstDash val="solid"/>
          </a:ln>
        </p:spPr>
        <p:txBody>
          <a:bodyPr/>
          <a:p/>
        </p:txBody>
      </p:sp>
      <p:sp>
        <p:nvSpPr>
          <p:cNvPr id="17" name="Shape 14"/>
          <p:cNvSpPr/>
          <p:nvPr/>
        </p:nvSpPr>
        <p:spPr>
          <a:xfrm>
            <a:off x="838200" y="2508875"/>
            <a:ext cx="1143000" cy="523875"/>
          </a:xfrm>
          <a:prstGeom prst="rect">
            <a:avLst/>
          </a:prstGeom>
          <a:solidFill>
            <a:srgbClr val="3E7089"/>
          </a:solidFill>
          <a:ln/>
        </p:spPr>
        <p:txBody>
          <a:bodyPr/>
          <a:p/>
        </p:txBody>
      </p:sp>
      <p:sp>
        <p:nvSpPr>
          <p:cNvPr id="18" name="Text 15"/>
          <p:cNvSpPr/>
          <p:nvPr/>
        </p:nvSpPr>
        <p:spPr>
          <a:xfrm>
            <a:off x="812800" y="255967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REGION</a:t>
            </a:r>
            <a:endParaRPr lang="en-US" sz="1200" dirty="0"/>
          </a:p>
        </p:txBody>
      </p:sp>
      <p:sp>
        <p:nvSpPr>
          <p:cNvPr id="19" name="Shape 16"/>
          <p:cNvSpPr/>
          <p:nvPr/>
        </p:nvSpPr>
        <p:spPr>
          <a:xfrm>
            <a:off x="1981200" y="2508875"/>
            <a:ext cx="3352800" cy="523875"/>
          </a:xfrm>
          <a:prstGeom prst="rect">
            <a:avLst/>
          </a:prstGeom>
          <a:solidFill>
            <a:srgbClr val="FFFBF5"/>
          </a:solidFill>
          <a:ln/>
        </p:spPr>
        <p:txBody>
          <a:bodyPr/>
          <a:p/>
        </p:txBody>
      </p:sp>
      <p:sp>
        <p:nvSpPr>
          <p:cNvPr id="20" name="Text 17"/>
          <p:cNvSpPr/>
          <p:nvPr/>
        </p:nvSpPr>
        <p:spPr>
          <a:xfrm>
            <a:off x="21336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508875"/>
            <a:ext cx="2667000" cy="523875"/>
          </a:xfrm>
          <a:prstGeom prst="rect">
            <a:avLst/>
          </a:prstGeom>
          <a:solidFill>
            <a:srgbClr val="3E7089"/>
          </a:solidFill>
          <a:ln/>
        </p:spPr>
        <p:txBody>
          <a:bodyPr/>
          <a:p/>
        </p:txBody>
      </p:sp>
      <p:sp>
        <p:nvSpPr>
          <p:cNvPr id="23" name="Text 20"/>
          <p:cNvSpPr/>
          <p:nvPr/>
        </p:nvSpPr>
        <p:spPr>
          <a:xfrm>
            <a:off x="5411724" y="255967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508875"/>
            <a:ext cx="3352800" cy="523875"/>
          </a:xfrm>
          <a:prstGeom prst="rect">
            <a:avLst/>
          </a:prstGeom>
          <a:solidFill>
            <a:srgbClr val="FFFBF5"/>
          </a:solidFill>
          <a:ln/>
        </p:spPr>
        <p:txBody>
          <a:bodyPr/>
          <a:p/>
        </p:txBody>
      </p:sp>
      <p:sp>
        <p:nvSpPr>
          <p:cNvPr id="25" name="Text 22"/>
          <p:cNvSpPr/>
          <p:nvPr/>
        </p:nvSpPr>
        <p:spPr>
          <a:xfrm>
            <a:off x="81534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3042275"/>
            <a:ext cx="10515600" cy="0"/>
          </a:xfrm>
          <a:prstGeom prst="line">
            <a:avLst/>
          </a:prstGeom>
          <a:noFill/>
          <a:ln w="19050">
            <a:solidFill>
              <a:srgbClr val="12303D"/>
            </a:solidFill>
            <a:prstDash val="solid"/>
          </a:ln>
        </p:spPr>
        <p:txBody>
          <a:bodyPr/>
          <a:p/>
        </p:txBody>
      </p:sp>
      <p:sp>
        <p:nvSpPr>
          <p:cNvPr id="28" name="Shape 25"/>
          <p:cNvSpPr/>
          <p:nvPr/>
        </p:nvSpPr>
        <p:spPr>
          <a:xfrm>
            <a:off x="838200" y="3051800"/>
            <a:ext cx="1143000" cy="714375"/>
          </a:xfrm>
          <a:prstGeom prst="rect">
            <a:avLst/>
          </a:prstGeom>
          <a:solidFill>
            <a:srgbClr val="1F5A6B"/>
          </a:solidFill>
          <a:ln/>
        </p:spPr>
        <p:txBody>
          <a:bodyPr/>
          <a:p/>
        </p:txBody>
      </p:sp>
      <p:sp>
        <p:nvSpPr>
          <p:cNvPr id="29" name="Text 26"/>
          <p:cNvSpPr/>
          <p:nvPr/>
        </p:nvSpPr>
        <p:spPr>
          <a:xfrm>
            <a:off x="812800" y="310260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DISTRICT</a:t>
            </a:r>
            <a:endParaRPr lang="en-US" sz="1200" dirty="0"/>
          </a:p>
        </p:txBody>
      </p:sp>
      <p:sp>
        <p:nvSpPr>
          <p:cNvPr id="30" name="Shape 27"/>
          <p:cNvSpPr/>
          <p:nvPr/>
        </p:nvSpPr>
        <p:spPr>
          <a:xfrm>
            <a:off x="1981200" y="3051800"/>
            <a:ext cx="3352800" cy="714375"/>
          </a:xfrm>
          <a:prstGeom prst="rect">
            <a:avLst/>
          </a:prstGeom>
          <a:solidFill>
            <a:srgbClr val="FFFBF5"/>
          </a:solidFill>
          <a:ln/>
        </p:spPr>
        <p:txBody>
          <a:bodyPr/>
          <a:p/>
        </p:txBody>
      </p:sp>
      <p:sp>
        <p:nvSpPr>
          <p:cNvPr id="31" name="Text 28"/>
          <p:cNvSpPr/>
          <p:nvPr/>
        </p:nvSpPr>
        <p:spPr>
          <a:xfrm>
            <a:off x="2133600" y="310260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The coordinator</a:t>
            </a:r>
            <a:endParaRPr lang="en-US" sz="1500" dirty="0"/>
          </a:p>
        </p:txBody>
      </p:sp>
      <p:sp>
        <p:nvSpPr>
          <p:cNvPr id="32" name="Text 29"/>
          <p:cNvSpPr/>
          <p:nvPr/>
        </p:nvSpPr>
        <p:spPr>
          <a:xfrm>
            <a:off x="2133600" y="333437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3051800"/>
            <a:ext cx="2667000" cy="714375"/>
          </a:xfrm>
          <a:prstGeom prst="rect">
            <a:avLst/>
          </a:prstGeom>
          <a:solidFill>
            <a:srgbClr val="1F5A6B"/>
          </a:solidFill>
          <a:ln/>
        </p:spPr>
        <p:txBody>
          <a:bodyPr/>
          <a:p/>
        </p:txBody>
      </p:sp>
      <p:sp>
        <p:nvSpPr>
          <p:cNvPr id="34" name="Text 31"/>
          <p:cNvSpPr/>
          <p:nvPr/>
        </p:nvSpPr>
        <p:spPr>
          <a:xfrm>
            <a:off x="5411724" y="310260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3051800"/>
            <a:ext cx="3352800" cy="714375"/>
          </a:xfrm>
          <a:prstGeom prst="rect">
            <a:avLst/>
          </a:prstGeom>
          <a:solidFill>
            <a:srgbClr val="FFFBF5"/>
          </a:solidFill>
          <a:ln/>
        </p:spPr>
        <p:txBody>
          <a:bodyPr/>
          <a:p/>
        </p:txBody>
      </p:sp>
      <p:sp>
        <p:nvSpPr>
          <p:cNvPr id="36" name="Text 33"/>
          <p:cNvSpPr/>
          <p:nvPr/>
        </p:nvSpPr>
        <p:spPr>
          <a:xfrm>
            <a:off x="8153400" y="31978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Nunito Sans" pitchFamily="34" charset="0"/>
                <a:ea typeface="Arial" pitchFamily="34" charset="-122"/>
                <a:cs typeface="Arial" pitchFamily="34" charset="-120"/>
              </a:rPr>
              <a:t>No counterpart yet</a:t>
            </a:r>
            <a:endParaRPr lang="en-US" sz="1500" dirty="0"/>
          </a:p>
        </p:txBody>
      </p:sp>
      <p:sp>
        <p:nvSpPr>
          <p:cNvPr id="37" name="Text 34"/>
          <p:cNvSpPr/>
          <p:nvPr/>
        </p:nvSpPr>
        <p:spPr>
          <a:xfrm>
            <a:off x="8153400" y="34296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775700"/>
            <a:ext cx="10515600" cy="0"/>
          </a:xfrm>
          <a:prstGeom prst="line">
            <a:avLst/>
          </a:prstGeom>
          <a:noFill/>
          <a:ln w="19050">
            <a:solidFill>
              <a:srgbClr val="12303D"/>
            </a:solidFill>
            <a:prstDash val="solid"/>
          </a:ln>
        </p:spPr>
        <p:txBody>
          <a:bodyPr/>
          <a:p/>
        </p:txBody>
      </p:sp>
      <p:sp>
        <p:nvSpPr>
          <p:cNvPr id="39" name="Shape 36"/>
          <p:cNvSpPr/>
          <p:nvPr/>
        </p:nvSpPr>
        <p:spPr>
          <a:xfrm>
            <a:off x="838200" y="3785225"/>
            <a:ext cx="1143000" cy="523875"/>
          </a:xfrm>
          <a:prstGeom prst="rect">
            <a:avLst/>
          </a:prstGeom>
          <a:solidFill>
            <a:srgbClr val="B26A00"/>
          </a:solidFill>
          <a:ln/>
        </p:spPr>
        <p:txBody>
          <a:bodyPr/>
          <a:p/>
        </p:txBody>
      </p:sp>
      <p:sp>
        <p:nvSpPr>
          <p:cNvPr id="40" name="Text 37"/>
          <p:cNvSpPr/>
          <p:nvPr/>
        </p:nvSpPr>
        <p:spPr>
          <a:xfrm>
            <a:off x="812800" y="383602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AREA</a:t>
            </a:r>
            <a:endParaRPr lang="en-US" sz="1200" dirty="0"/>
          </a:p>
        </p:txBody>
      </p:sp>
      <p:sp>
        <p:nvSpPr>
          <p:cNvPr id="41" name="Shape 38"/>
          <p:cNvSpPr/>
          <p:nvPr/>
        </p:nvSpPr>
        <p:spPr>
          <a:xfrm>
            <a:off x="1981200" y="3785225"/>
            <a:ext cx="3352800" cy="523875"/>
          </a:xfrm>
          <a:prstGeom prst="rect">
            <a:avLst/>
          </a:prstGeom>
          <a:solidFill>
            <a:srgbClr val="FFFBF5"/>
          </a:solidFill>
          <a:ln/>
        </p:spPr>
        <p:txBody>
          <a:bodyPr/>
          <a:p/>
        </p:txBody>
      </p:sp>
      <p:sp>
        <p:nvSpPr>
          <p:cNvPr id="42" name="Text 39"/>
          <p:cNvSpPr/>
          <p:nvPr/>
        </p:nvSpPr>
        <p:spPr>
          <a:xfrm>
            <a:off x="21336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Ward coordinator + stand-in</a:t>
            </a:r>
            <a:endParaRPr lang="en-US" sz="1500" dirty="0"/>
          </a:p>
        </p:txBody>
      </p:sp>
      <p:sp>
        <p:nvSpPr>
          <p:cNvPr id="43" name="Text 40"/>
          <p:cNvSpPr/>
          <p:nvPr/>
        </p:nvSpPr>
        <p:spPr>
          <a:xfrm>
            <a:off x="21336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Plans, schedules, accepts</a:t>
            </a:r>
            <a:endParaRPr lang="en-US" sz="1200" dirty="0"/>
          </a:p>
        </p:txBody>
      </p:sp>
      <p:sp>
        <p:nvSpPr>
          <p:cNvPr id="44" name="Shape 41"/>
          <p:cNvSpPr/>
          <p:nvPr/>
        </p:nvSpPr>
        <p:spPr>
          <a:xfrm>
            <a:off x="5334000" y="3785225"/>
            <a:ext cx="2667000" cy="523875"/>
          </a:xfrm>
          <a:prstGeom prst="rect">
            <a:avLst/>
          </a:prstGeom>
          <a:solidFill>
            <a:srgbClr val="B26A00"/>
          </a:solidFill>
          <a:ln/>
        </p:spPr>
        <p:txBody>
          <a:bodyPr/>
          <a:p/>
        </p:txBody>
      </p:sp>
      <p:sp>
        <p:nvSpPr>
          <p:cNvPr id="45" name="Text 42"/>
          <p:cNvSpPr/>
          <p:nvPr/>
        </p:nvSpPr>
        <p:spPr>
          <a:xfrm>
            <a:off x="5411724" y="383602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785225"/>
            <a:ext cx="3352800" cy="523875"/>
          </a:xfrm>
          <a:prstGeom prst="rect">
            <a:avLst/>
          </a:prstGeom>
          <a:solidFill>
            <a:srgbClr val="FFFBF5"/>
          </a:solidFill>
          <a:ln/>
        </p:spPr>
        <p:txBody>
          <a:bodyPr/>
          <a:p/>
        </p:txBody>
      </p:sp>
      <p:sp>
        <p:nvSpPr>
          <p:cNvPr id="47" name="Text 44"/>
          <p:cNvSpPr/>
          <p:nvPr/>
        </p:nvSpPr>
        <p:spPr>
          <a:xfrm>
            <a:off x="81534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Partner ward coordinator</a:t>
            </a:r>
            <a:endParaRPr lang="en-US" sz="1500" dirty="0"/>
          </a:p>
        </p:txBody>
      </p:sp>
      <p:sp>
        <p:nvSpPr>
          <p:cNvPr id="48" name="Text 45"/>
          <p:cNvSpPr/>
          <p:nvPr/>
        </p:nvSpPr>
        <p:spPr>
          <a:xfrm>
            <a:off x="81534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318625"/>
            <a:ext cx="10515600" cy="0"/>
          </a:xfrm>
          <a:prstGeom prst="line">
            <a:avLst/>
          </a:prstGeom>
          <a:noFill/>
          <a:ln w="19050">
            <a:solidFill>
              <a:srgbClr val="12303D"/>
            </a:solidFill>
            <a:prstDash val="solid"/>
          </a:ln>
        </p:spPr>
        <p:txBody>
          <a:bodyPr/>
          <a:p/>
        </p:txBody>
      </p:sp>
      <p:sp>
        <p:nvSpPr>
          <p:cNvPr id="50" name="Shape 47"/>
          <p:cNvSpPr/>
          <p:nvPr/>
        </p:nvSpPr>
        <p:spPr>
          <a:xfrm>
            <a:off x="838200" y="4328150"/>
            <a:ext cx="1143000" cy="523875"/>
          </a:xfrm>
          <a:prstGeom prst="rect">
            <a:avLst/>
          </a:prstGeom>
          <a:solidFill>
            <a:srgbClr val="4F6B3A"/>
          </a:solidFill>
          <a:ln/>
        </p:spPr>
        <p:txBody>
          <a:bodyPr/>
          <a:p/>
        </p:txBody>
      </p:sp>
      <p:sp>
        <p:nvSpPr>
          <p:cNvPr id="51" name="Text 48"/>
          <p:cNvSpPr/>
          <p:nvPr/>
        </p:nvSpPr>
        <p:spPr>
          <a:xfrm>
            <a:off x="812800" y="43789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VILLAGE</a:t>
            </a:r>
            <a:endParaRPr lang="en-US" sz="1200" dirty="0"/>
          </a:p>
        </p:txBody>
      </p:sp>
      <p:sp>
        <p:nvSpPr>
          <p:cNvPr id="52" name="Shape 49"/>
          <p:cNvSpPr/>
          <p:nvPr/>
        </p:nvSpPr>
        <p:spPr>
          <a:xfrm>
            <a:off x="1981200" y="4328150"/>
            <a:ext cx="3352800" cy="523875"/>
          </a:xfrm>
          <a:prstGeom prst="rect">
            <a:avLst/>
          </a:prstGeom>
          <a:solidFill>
            <a:srgbClr val="FFFBF5"/>
          </a:solidFill>
          <a:ln/>
        </p:spPr>
        <p:txBody>
          <a:bodyPr/>
          <a:p/>
        </p:txBody>
      </p:sp>
      <p:sp>
        <p:nvSpPr>
          <p:cNvPr id="53" name="Text 50"/>
          <p:cNvSpPr/>
          <p:nvPr/>
        </p:nvSpPr>
        <p:spPr>
          <a:xfrm>
            <a:off x="21336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Nunito Sans" pitchFamily="34" charset="0"/>
                <a:ea typeface="Arial" pitchFamily="34" charset="-122"/>
                <a:cs typeface="Arial" pitchFamily="34" charset="-120"/>
              </a:rPr>
              <a:t>Trainer</a:t>
            </a:r>
            <a:endParaRPr lang="en-US" sz="1500" dirty="0"/>
          </a:p>
        </p:txBody>
      </p:sp>
      <p:sp>
        <p:nvSpPr>
          <p:cNvPr id="54" name="Text 51"/>
          <p:cNvSpPr/>
          <p:nvPr/>
        </p:nvSpPr>
        <p:spPr>
          <a:xfrm>
            <a:off x="21336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328150"/>
            <a:ext cx="2667000" cy="523875"/>
          </a:xfrm>
          <a:prstGeom prst="rect">
            <a:avLst/>
          </a:prstGeom>
          <a:solidFill>
            <a:srgbClr val="4F6B3A"/>
          </a:solidFill>
          <a:ln/>
        </p:spPr>
        <p:txBody>
          <a:bodyPr/>
          <a:p/>
        </p:txBody>
      </p:sp>
      <p:sp>
        <p:nvSpPr>
          <p:cNvPr id="56" name="Text 53"/>
          <p:cNvSpPr/>
          <p:nvPr/>
        </p:nvSpPr>
        <p:spPr>
          <a:xfrm>
            <a:off x="5411724" y="43789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328150"/>
            <a:ext cx="3352800" cy="523875"/>
          </a:xfrm>
          <a:prstGeom prst="rect">
            <a:avLst/>
          </a:prstGeom>
          <a:solidFill>
            <a:srgbClr val="FFFBF5"/>
          </a:solidFill>
          <a:ln/>
        </p:spPr>
        <p:txBody>
          <a:bodyPr/>
          <a:p/>
        </p:txBody>
      </p:sp>
      <p:sp>
        <p:nvSpPr>
          <p:cNvPr id="58" name="Text 55"/>
          <p:cNvSpPr/>
          <p:nvPr/>
        </p:nvSpPr>
        <p:spPr>
          <a:xfrm>
            <a:off x="81534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Nunito Sans" pitchFamily="34" charset="0"/>
                <a:ea typeface="Arial" pitchFamily="34" charset="-122"/>
                <a:cs typeface="Arial" pitchFamily="34" charset="-120"/>
              </a:rPr>
              <a:t>The group</a:t>
            </a:r>
            <a:endParaRPr lang="en-US" sz="1500" dirty="0"/>
          </a:p>
        </p:txBody>
      </p:sp>
      <p:sp>
        <p:nvSpPr>
          <p:cNvPr id="59" name="Text 56"/>
          <p:cNvSpPr/>
          <p:nvPr/>
        </p:nvSpPr>
        <p:spPr>
          <a:xfrm>
            <a:off x="81534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979025"/>
            <a:ext cx="10566400" cy="523180"/>
          </a:xfrm>
          <a:prstGeom prst="roundRect">
            <a:avLst>
              <a:gd name="adj" fmla="val 14565"/>
            </a:avLst>
          </a:prstGeom>
          <a:solidFill>
            <a:srgbClr val="F3E9DA"/>
          </a:solidFill>
          <a:ln/>
        </p:spPr>
        <p:txBody>
          <a:bodyPr/>
          <a:p/>
        </p:txBody>
      </p:sp>
      <p:sp>
        <p:nvSpPr>
          <p:cNvPr id="61" name="Shape 58"/>
          <p:cNvSpPr/>
          <p:nvPr/>
        </p:nvSpPr>
        <p:spPr>
          <a:xfrm>
            <a:off x="844550" y="4979025"/>
            <a:ext cx="0" cy="523180"/>
          </a:xfrm>
          <a:prstGeom prst="line">
            <a:avLst/>
          </a:prstGeom>
          <a:noFill/>
          <a:ln w="63500">
            <a:solidFill>
              <a:srgbClr val="B26A00"/>
            </a:solidFill>
            <a:prstDash val="solid"/>
          </a:ln>
        </p:spPr>
        <p:txBody>
          <a:bodyPr/>
          <a:p/>
        </p:txBody>
      </p:sp>
      <p:sp>
        <p:nvSpPr>
          <p:cNvPr id="62" name="Text 59"/>
          <p:cNvSpPr/>
          <p:nvPr/>
        </p:nvSpPr>
        <p:spPr>
          <a:xfrm>
            <a:off x="1028700" y="513395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Nunito Sans" pitchFamily="34" charset="0"/>
                <a:ea typeface="Arial" pitchFamily="34" charset="-122"/>
                <a:cs typeface="Arial" pitchFamily="34" charset="-120"/>
              </a:rPr>
              <a:t>AREA</a:t>
            </a:r>
            <a:endParaRPr lang="en-US" sz="1200" dirty="0"/>
          </a:p>
        </p:txBody>
      </p:sp>
      <p:sp>
        <p:nvSpPr>
          <p:cNvPr id="63" name="Text 60"/>
          <p:cNvSpPr/>
          <p:nvPr/>
        </p:nvSpPr>
        <p:spPr>
          <a:xfrm>
            <a:off x="1638350" y="504252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Nunito Sans" pitchFamily="34" charset="0"/>
                <a:ea typeface="Arial" pitchFamily="34" charset="-122"/>
                <a:cs typeface="Arial" pitchFamily="34" charset="-120"/>
              </a:rPr>
              <a:t>An area is made up, not on any map.</a:t>
            </a:r>
            <a:r>
              <a:rPr lang="en-US" sz="1200" dirty="0">
                <a:solidFill>
                  <a:srgbClr val="12303D"/>
                </a:solidFill>
                <a:latin typeface="Nunito Sans" pitchFamily="34" charset="0"/>
                <a:ea typeface="Arial" pitchFamily="34" charset="-122"/>
                <a:cs typeface="Arial" pitchFamily="34" charset="-120"/>
              </a:rPr>
              <a:t> It is a named subset of wards inside one district, which the coordinator draws and can redraw so that one ward coordinator has a workable patch. Records stay by region, district and ward.</a:t>
            </a:r>
            <a:endParaRPr lang="en-US" sz="1200" dirty="0"/>
          </a:p>
        </p:txBody>
      </p:sp>
      <p:sp>
        <p:nvSpPr>
          <p:cNvPr id="64" name="Text 61"/>
          <p:cNvSpPr/>
          <p:nvPr/>
        </p:nvSpPr>
        <p:spPr>
          <a:xfrm>
            <a:off x="812800" y="6512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Nunito Sans"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Nunito Sans" pitchFamily="34" charset="0"/>
                <a:ea typeface="Arial" pitchFamily="34" charset="-122"/>
                <a:cs typeface="Arial" pitchFamily="34" charset="-120"/>
              </a:rPr>
              <a:t>The assumption here is that the BDS provider is on the hook for training, although we might get things started out with consultant + TAMISEMI master trainers. The system therefore provides for a hand-over;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txBody>
          <a:bodyPr/>
          <a:p/>
        </p:txBody>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txBody>
          <a:bodyPr/>
          <a:p/>
        </p:txBody>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runs training,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txBody>
          <a:bodyPr/>
          <a:p/>
        </p:txBody>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Nunito Sans"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txBody>
          <a:bodyPr/>
          <a:p/>
        </p:txBody>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Ward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plans,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txBody>
          <a:bodyPr/>
          <a:p/>
        </p:txBody>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Nunito Sans" pitchFamily="34" charset="0"/>
                <a:ea typeface="Arial" pitchFamily="34" charset="-122"/>
                <a:cs typeface="Arial" pitchFamily="34" charset="-120"/>
              </a:rPr>
              <a:t>Partner ward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Nunito Sans"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Nunito Sans"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txBody>
          <a:bodyPr/>
          <a:p/>
        </p:txBody>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txBody>
          <a:bodyPr/>
          <a:p/>
        </p:txBody>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Nunito Sans"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txBody>
          <a:bodyPr/>
          <a:p/>
        </p:txBody>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posts trainers,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txBody>
          <a:bodyPr/>
          <a:p/>
        </p:txBody>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Nunito Sans"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txBody>
          <a:bodyPr/>
          <a:p/>
        </p:txBody>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Nunito Sans" pitchFamily="34" charset="0"/>
                <a:ea typeface="Arial" pitchFamily="34" charset="-122"/>
                <a:cs typeface="Arial" pitchFamily="34" charset="-120"/>
              </a:rPr>
              <a:t>Ward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txBody>
          <a:bodyPr/>
          <a:p/>
        </p:txBody>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ward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plans,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txBody>
          <a:bodyPr/>
          <a:p/>
        </p:txBody>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txBody>
          <a:bodyPr/>
          <a:p/>
        </p:txBody>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txBody>
          <a:bodyPr/>
          <a:p/>
        </p:txBody>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txBody>
          <a:bodyPr/>
          <a:p/>
        </p:txBody>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txBody>
          <a:bodyPr/>
          <a:p/>
        </p:txBody>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txBody>
          <a:bodyPr/>
          <a:p/>
        </p:txBody>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Nunito Sans" pitchFamily="34" charset="0"/>
                <a:ea typeface="Arial" pitchFamily="34" charset="-122"/>
                <a:cs typeface="Arial" pitchFamily="34" charset="-120"/>
              </a:rPr>
              <a:t>Many people help deliver a lesson from a training content author's desk to a village meeting and back. Key roles are listed here.</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609600" cy="31750"/>
          </a:xfrm>
          <a:prstGeom prst="rect">
            <a:avLst/>
          </a:prstGeom>
          <a:solidFill>
            <a:srgbClr val="D9CDB8"/>
          </a:solidFill>
          <a:ln/>
        </p:spPr>
        <p:txBody>
          <a:bodyPr/>
          <a:p/>
        </p:txBody>
      </p:sp>
      <p:sp>
        <p:nvSpPr>
          <p:cNvPr id="8" name="Shape 5"/>
          <p:cNvSpPr/>
          <p:nvPr/>
        </p:nvSpPr>
        <p:spPr>
          <a:xfrm>
            <a:off x="2454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628900" y="2301230"/>
            <a:ext cx="330200" cy="330200"/>
          </a:xfrm>
          <a:prstGeom prst="rect">
            <a:avLst/>
          </a:prstGeom>
        </p:spPr>
      </p:pic>
      <p:sp>
        <p:nvSpPr>
          <p:cNvPr id="10" name="Shape 6"/>
          <p:cNvSpPr/>
          <p:nvPr/>
        </p:nvSpPr>
        <p:spPr>
          <a:xfrm>
            <a:off x="3149600" y="2450455"/>
            <a:ext cx="609600" cy="31750"/>
          </a:xfrm>
          <a:prstGeom prst="rect">
            <a:avLst/>
          </a:prstGeom>
          <a:solidFill>
            <a:srgbClr val="D9CDB8"/>
          </a:solidFill>
          <a:ln/>
        </p:spPr>
        <p:txBody>
          <a:bodyPr/>
          <a:p/>
        </p:txBody>
      </p:sp>
      <p:sp>
        <p:nvSpPr>
          <p:cNvPr id="11" name="Shape 7"/>
          <p:cNvSpPr/>
          <p:nvPr/>
        </p:nvSpPr>
        <p:spPr>
          <a:xfrm>
            <a:off x="37750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949700" y="2301230"/>
            <a:ext cx="330200" cy="330200"/>
          </a:xfrm>
          <a:prstGeom prst="rect">
            <a:avLst/>
          </a:prstGeom>
        </p:spPr>
      </p:pic>
      <p:sp>
        <p:nvSpPr>
          <p:cNvPr id="13" name="Shape 8"/>
          <p:cNvSpPr/>
          <p:nvPr/>
        </p:nvSpPr>
        <p:spPr>
          <a:xfrm>
            <a:off x="4470400" y="2450455"/>
            <a:ext cx="609600" cy="31750"/>
          </a:xfrm>
          <a:prstGeom prst="rect">
            <a:avLst/>
          </a:prstGeom>
          <a:solidFill>
            <a:srgbClr val="D9CDB8"/>
          </a:solidFill>
          <a:ln/>
        </p:spPr>
        <p:txBody>
          <a:bodyPr/>
          <a:p/>
        </p:txBody>
      </p:sp>
      <p:sp>
        <p:nvSpPr>
          <p:cNvPr id="14" name="Shape 9"/>
          <p:cNvSpPr/>
          <p:nvPr/>
        </p:nvSpPr>
        <p:spPr>
          <a:xfrm>
            <a:off x="50958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5270500" y="2301230"/>
            <a:ext cx="330200" cy="330200"/>
          </a:xfrm>
          <a:prstGeom prst="rect">
            <a:avLst/>
          </a:prstGeom>
        </p:spPr>
      </p:pic>
      <p:sp>
        <p:nvSpPr>
          <p:cNvPr id="16" name="Shape 10"/>
          <p:cNvSpPr/>
          <p:nvPr/>
        </p:nvSpPr>
        <p:spPr>
          <a:xfrm>
            <a:off x="5791200" y="2450455"/>
            <a:ext cx="609600" cy="31750"/>
          </a:xfrm>
          <a:prstGeom prst="rect">
            <a:avLst/>
          </a:prstGeom>
          <a:solidFill>
            <a:srgbClr val="D9CDB8"/>
          </a:solidFill>
          <a:ln/>
        </p:spPr>
        <p:txBody>
          <a:bodyPr/>
          <a:p/>
        </p:txBody>
      </p:sp>
      <p:sp>
        <p:nvSpPr>
          <p:cNvPr id="17" name="Shape 11"/>
          <p:cNvSpPr/>
          <p:nvPr/>
        </p:nvSpPr>
        <p:spPr>
          <a:xfrm>
            <a:off x="6416675" y="2126605"/>
            <a:ext cx="679450" cy="679450"/>
          </a:xfrm>
          <a:prstGeom prst="roundRect">
            <a:avLst>
              <a:gd name="adj" fmla="val 50000"/>
            </a:avLst>
          </a:prstGeom>
          <a:solidFill>
            <a:srgbClr val="FFFBF5"/>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6591300" y="2301230"/>
            <a:ext cx="330200" cy="330200"/>
          </a:xfrm>
          <a:prstGeom prst="rect">
            <a:avLst/>
          </a:prstGeom>
        </p:spPr>
      </p:pic>
      <p:sp>
        <p:nvSpPr>
          <p:cNvPr id="19" name="Shape 12"/>
          <p:cNvSpPr/>
          <p:nvPr/>
        </p:nvSpPr>
        <p:spPr>
          <a:xfrm>
            <a:off x="7112000" y="2450455"/>
            <a:ext cx="609600" cy="31750"/>
          </a:xfrm>
          <a:prstGeom prst="rect">
            <a:avLst/>
          </a:prstGeom>
          <a:solidFill>
            <a:srgbClr val="D9CDB8"/>
          </a:solidFill>
          <a:ln/>
        </p:spPr>
        <p:txBody>
          <a:bodyPr/>
          <a:p/>
        </p:txBody>
      </p:sp>
      <p:sp>
        <p:nvSpPr>
          <p:cNvPr id="20" name="Shape 13"/>
          <p:cNvSpPr/>
          <p:nvPr/>
        </p:nvSpPr>
        <p:spPr>
          <a:xfrm>
            <a:off x="77374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7912100" y="2301230"/>
            <a:ext cx="330200" cy="330200"/>
          </a:xfrm>
          <a:prstGeom prst="rect">
            <a:avLst/>
          </a:prstGeom>
        </p:spPr>
      </p:pic>
      <p:sp>
        <p:nvSpPr>
          <p:cNvPr id="22" name="Shape 14"/>
          <p:cNvSpPr/>
          <p:nvPr/>
        </p:nvSpPr>
        <p:spPr>
          <a:xfrm>
            <a:off x="8432800" y="2450455"/>
            <a:ext cx="609600" cy="31750"/>
          </a:xfrm>
          <a:prstGeom prst="rect">
            <a:avLst/>
          </a:prstGeom>
          <a:solidFill>
            <a:srgbClr val="D9CDB8"/>
          </a:solidFill>
          <a:ln/>
        </p:spPr>
        <p:txBody>
          <a:bodyPr/>
          <a:p/>
        </p:txBody>
      </p:sp>
      <p:sp>
        <p:nvSpPr>
          <p:cNvPr id="23" name="Shape 15"/>
          <p:cNvSpPr/>
          <p:nvPr/>
        </p:nvSpPr>
        <p:spPr>
          <a:xfrm>
            <a:off x="9058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232900" y="2301230"/>
            <a:ext cx="330200" cy="330200"/>
          </a:xfrm>
          <a:prstGeom prst="rect">
            <a:avLst/>
          </a:prstGeom>
        </p:spPr>
      </p:pic>
      <p:sp>
        <p:nvSpPr>
          <p:cNvPr id="25" name="Shape 16"/>
          <p:cNvSpPr/>
          <p:nvPr/>
        </p:nvSpPr>
        <p:spPr>
          <a:xfrm>
            <a:off x="9753600" y="2450455"/>
            <a:ext cx="6096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787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Nunito Sans" pitchFamily="34" charset="0"/>
                <a:ea typeface="Arial" pitchFamily="34" charset="-122"/>
                <a:cs typeface="Arial" pitchFamily="34" charset="-120"/>
              </a:rPr>
              <a:t>Administrator</a:t>
            </a:r>
            <a:endParaRPr lang="en-US" sz="1200" dirty="0"/>
          </a:p>
        </p:txBody>
      </p:sp>
      <p:sp>
        <p:nvSpPr>
          <p:cNvPr id="29" name="Text 19"/>
          <p:cNvSpPr/>
          <p:nvPr/>
        </p:nvSpPr>
        <p:spPr>
          <a:xfrm>
            <a:off x="2108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Nunito Sans" pitchFamily="34" charset="0"/>
                <a:ea typeface="Arial" pitchFamily="34" charset="-122"/>
                <a:cs typeface="Arial" pitchFamily="34" charset="-120"/>
              </a:rPr>
              <a:t>Content author</a:t>
            </a:r>
            <a:endParaRPr lang="en-US" sz="1200" dirty="0"/>
          </a:p>
        </p:txBody>
      </p:sp>
      <p:sp>
        <p:nvSpPr>
          <p:cNvPr id="30" name="Text 20"/>
          <p:cNvSpPr/>
          <p:nvPr/>
        </p:nvSpPr>
        <p:spPr>
          <a:xfrm>
            <a:off x="3429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Nunito Sans" pitchFamily="34" charset="0"/>
                <a:ea typeface="Arial" pitchFamily="34" charset="-122"/>
                <a:cs typeface="Arial" pitchFamily="34" charset="-120"/>
              </a:rPr>
              <a:t>District officer</a:t>
            </a:r>
            <a:endParaRPr lang="en-US" sz="1200" dirty="0"/>
          </a:p>
        </p:txBody>
      </p:sp>
      <p:sp>
        <p:nvSpPr>
          <p:cNvPr id="31" name="Text 21"/>
          <p:cNvSpPr/>
          <p:nvPr/>
        </p:nvSpPr>
        <p:spPr>
          <a:xfrm>
            <a:off x="47498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A84B25"/>
                </a:solidFill>
                <a:latin typeface="Nunito Sans" pitchFamily="34" charset="0"/>
                <a:ea typeface="Arial" pitchFamily="34" charset="-122"/>
                <a:cs typeface="Arial" pitchFamily="34" charset="-120"/>
              </a:rPr>
              <a:t>Partner manager</a:t>
            </a:r>
            <a:endParaRPr lang="en-US" sz="1200" dirty="0"/>
          </a:p>
        </p:txBody>
      </p:sp>
      <p:sp>
        <p:nvSpPr>
          <p:cNvPr id="32" name="Text 22"/>
          <p:cNvSpPr/>
          <p:nvPr/>
        </p:nvSpPr>
        <p:spPr>
          <a:xfrm>
            <a:off x="60706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435A"/>
                </a:solidFill>
                <a:latin typeface="Nunito Sans" pitchFamily="34" charset="0"/>
                <a:ea typeface="Arial" pitchFamily="34" charset="-122"/>
                <a:cs typeface="Arial" pitchFamily="34" charset="-120"/>
              </a:rPr>
              <a:t>The coordinator</a:t>
            </a:r>
            <a:endParaRPr lang="en-US" sz="1200" dirty="0"/>
          </a:p>
        </p:txBody>
      </p:sp>
      <p:sp>
        <p:nvSpPr>
          <p:cNvPr id="33" name="Text 23"/>
          <p:cNvSpPr/>
          <p:nvPr/>
        </p:nvSpPr>
        <p:spPr>
          <a:xfrm>
            <a:off x="7391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4F6B3A"/>
                </a:solidFill>
                <a:latin typeface="Nunito Sans" pitchFamily="34" charset="0"/>
                <a:ea typeface="Arial" pitchFamily="34" charset="-122"/>
                <a:cs typeface="Arial" pitchFamily="34" charset="-120"/>
              </a:rPr>
              <a:t>Trainer</a:t>
            </a:r>
            <a:endParaRPr lang="en-US" sz="1200" dirty="0"/>
          </a:p>
        </p:txBody>
      </p:sp>
      <p:sp>
        <p:nvSpPr>
          <p:cNvPr id="34" name="Text 24"/>
          <p:cNvSpPr/>
          <p:nvPr/>
        </p:nvSpPr>
        <p:spPr>
          <a:xfrm>
            <a:off x="8712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Nunito Sans" pitchFamily="34" charset="0"/>
                <a:ea typeface="Arial" pitchFamily="34" charset="-122"/>
                <a:cs typeface="Arial" pitchFamily="34" charset="-120"/>
              </a:rPr>
              <a:t>Regional coordinator</a:t>
            </a:r>
            <a:endParaRPr lang="en-US" sz="1200" dirty="0"/>
          </a:p>
        </p:txBody>
      </p:sp>
      <p:sp>
        <p:nvSpPr>
          <p:cNvPr id="35" name="Text 25"/>
          <p:cNvSpPr/>
          <p:nvPr/>
        </p:nvSpPr>
        <p:spPr>
          <a:xfrm>
            <a:off x="10033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B26A00"/>
                </a:solidFill>
                <a:latin typeface="Nunito Sans" pitchFamily="34" charset="0"/>
                <a:ea typeface="Arial" pitchFamily="34" charset="-122"/>
                <a:cs typeface="Arial" pitchFamily="34" charset="-120"/>
              </a:rPr>
              <a:t>M&amp;E officer</a:t>
            </a:r>
            <a:endParaRPr lang="en-US" sz="1200" dirty="0"/>
          </a:p>
        </p:txBody>
      </p:sp>
      <p:sp>
        <p:nvSpPr>
          <p:cNvPr id="36" name="Shape 26"/>
          <p:cNvSpPr/>
          <p:nvPr/>
        </p:nvSpPr>
        <p:spPr>
          <a:xfrm>
            <a:off x="825500" y="3467050"/>
            <a:ext cx="10541000" cy="1101233"/>
          </a:xfrm>
          <a:prstGeom prst="roundRect">
            <a:avLst>
              <a:gd name="adj" fmla="val 6455"/>
            </a:avLst>
          </a:prstGeom>
          <a:solidFill>
            <a:srgbClr val="F3E9DA"/>
          </a:solidFill>
          <a:ln w="25400">
            <a:solidFill>
              <a:srgbClr val="12435A"/>
            </a:solidFill>
            <a:prstDash val="solid"/>
          </a:ln>
        </p:spPr>
        <p:txBody>
          <a:bodyPr/>
          <a:p/>
        </p:txBody>
      </p:sp>
      <p:sp>
        <p:nvSpPr>
          <p:cNvPr id="38" name="Text 28"/>
          <p:cNvSpPr/>
          <p:nvPr/>
        </p:nvSpPr>
        <p:spPr>
          <a:xfrm>
            <a:off x="1092200" y="3668218"/>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Domine" pitchFamily="34" charset="0"/>
                <a:ea typeface="Georgia" pitchFamily="34" charset="-122"/>
                <a:cs typeface="Georgia" pitchFamily="34" charset="-120"/>
              </a:rPr>
              <a:t>Choose a person, and see their functions</a:t>
            </a:r>
            <a:endParaRPr lang="en-US" sz="2000" dirty="0"/>
          </a:p>
        </p:txBody>
      </p:sp>
      <p:sp>
        <p:nvSpPr>
          <p:cNvPr id="40" name="Text 30"/>
          <p:cNvSpPr/>
          <p:nvPr/>
        </p:nvSpPr>
        <p:spPr>
          <a:xfrm>
            <a:off x="1092200" y="4045718"/>
            <a:ext cx="10307828" cy="248245"/>
          </a:xfrm>
          <a:prstGeom prst="rect">
            <a:avLst/>
          </a:prstGeom>
          <a:noFill/>
          <a:ln/>
        </p:spPr>
        <p:txBody>
          <a:bodyPr wrap="square" lIns="0" tIns="0" rIns="0" bIns="0" rtlCol="0" anchor="t">
            <a:normAutofit/>
          </a:bodyPr>
          <a:lstStyle/>
          <a:p>
            <a:pPr algn="l" indent="0" marL="0">
              <a:lnSpc>
                <a:spcPts val="1755"/>
              </a:lnSpc>
              <a:buNone/>
            </a:pPr>
            <a:r>
              <a:rPr lang="en-US" sz="1300" u="sng" dirty="0">
                <a:solidFill>
                  <a:srgbClr val="12303D"/>
                </a:solidFill>
                <a:latin typeface="Nunito Sans"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Nunito Sans" pitchFamily="34" charset="0"/>
                <a:ea typeface="Arial" pitchFamily="34" charset="-122"/>
                <a:cs typeface="Arial" pitchFamily="34" charset="-120"/>
              </a:rPr>
              <a:t>TAMISEMI</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A84B25"/>
                </a:solidFill>
                <a:latin typeface="Nunito Sans" pitchFamily="34" charset="0"/>
                <a:ea typeface="Arial" pitchFamily="34" charset="-122"/>
                <a:cs typeface="Arial" pitchFamily="34" charset="-120"/>
              </a:rPr>
              <a:t>BDS partner</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F6B3A"/>
                </a:solidFill>
                <a:latin typeface="Nunito Sans" pitchFamily="34" charset="0"/>
                <a:ea typeface="Arial" pitchFamily="34" charset="-122"/>
                <a:cs typeface="Arial" pitchFamily="34" charset="-120"/>
              </a:rPr>
              <a:t>In the field</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B26A00"/>
                </a:solidFill>
                <a:latin typeface="Nunito Sans"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